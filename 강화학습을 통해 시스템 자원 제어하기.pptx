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304" r:id="rId13"/>
    <p:sldId id="297" r:id="rId14"/>
    <p:sldId id="298" r:id="rId15"/>
    <p:sldId id="299" r:id="rId16"/>
    <p:sldId id="302" r:id="rId17"/>
    <p:sldId id="300" r:id="rId18"/>
    <p:sldId id="301" r:id="rId19"/>
    <p:sldId id="287" r:id="rId20"/>
  </p:sldIdLst>
  <p:sldSz cx="12192000" cy="6858000"/>
  <p:notesSz cx="12192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94660"/>
  </p:normalViewPr>
  <p:slideViewPr>
    <p:cSldViewPr>
      <p:cViewPr varScale="1">
        <p:scale>
          <a:sx n="77" d="100"/>
          <a:sy n="77" d="100"/>
        </p:scale>
        <p:origin x="72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A9681-1F33-4A77-AB29-3E6DAEE4A6B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B1568-7923-4328-9498-5E56DA2BA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561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2861" y="769238"/>
            <a:ext cx="11314430" cy="0"/>
          </a:xfrm>
          <a:custGeom>
            <a:avLst/>
            <a:gdLst/>
            <a:ahLst/>
            <a:cxnLst/>
            <a:rect l="l" t="t" r="r" b="b"/>
            <a:pathLst>
              <a:path w="11314430">
                <a:moveTo>
                  <a:pt x="0" y="0"/>
                </a:moveTo>
                <a:lnTo>
                  <a:pt x="11314163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42801" y="35242"/>
            <a:ext cx="949198" cy="20859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828198" y="0"/>
            <a:ext cx="2364105" cy="2199640"/>
          </a:xfrm>
          <a:custGeom>
            <a:avLst/>
            <a:gdLst/>
            <a:ahLst/>
            <a:cxnLst/>
            <a:rect l="l" t="t" r="r" b="b"/>
            <a:pathLst>
              <a:path w="2364104" h="2199640">
                <a:moveTo>
                  <a:pt x="1210564" y="0"/>
                </a:moveTo>
                <a:lnTo>
                  <a:pt x="0" y="0"/>
                </a:lnTo>
                <a:lnTo>
                  <a:pt x="2363801" y="2199582"/>
                </a:lnTo>
                <a:lnTo>
                  <a:pt x="2363801" y="1073093"/>
                </a:lnTo>
                <a:lnTo>
                  <a:pt x="1210564" y="0"/>
                </a:lnTo>
                <a:close/>
              </a:path>
            </a:pathLst>
          </a:custGeom>
          <a:solidFill>
            <a:srgbClr val="1F0305">
              <a:alpha val="2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462" y="6492833"/>
            <a:ext cx="601421" cy="3298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2400" y="701497"/>
            <a:ext cx="10347198" cy="530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077068" y="6670457"/>
            <a:ext cx="1955800" cy="143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www.dsngsystem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54304" y="3733291"/>
            <a:ext cx="3138170" cy="3124835"/>
          </a:xfrm>
          <a:custGeom>
            <a:avLst/>
            <a:gdLst/>
            <a:ahLst/>
            <a:cxnLst/>
            <a:rect l="l" t="t" r="r" b="b"/>
            <a:pathLst>
              <a:path w="3138170" h="3124834">
                <a:moveTo>
                  <a:pt x="3124741" y="0"/>
                </a:moveTo>
                <a:lnTo>
                  <a:pt x="0" y="3124707"/>
                </a:lnTo>
                <a:lnTo>
                  <a:pt x="2048900" y="3124707"/>
                </a:lnTo>
                <a:lnTo>
                  <a:pt x="3137695" y="2035960"/>
                </a:lnTo>
                <a:lnTo>
                  <a:pt x="3137695" y="401707"/>
                </a:lnTo>
                <a:lnTo>
                  <a:pt x="3124741" y="0"/>
                </a:lnTo>
                <a:close/>
              </a:path>
            </a:pathLst>
          </a:custGeom>
          <a:solidFill>
            <a:srgbClr val="EC7C30">
              <a:alpha val="1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4814315" y="1352677"/>
            <a:ext cx="6959600" cy="50800"/>
            <a:chOff x="4814315" y="1352677"/>
            <a:chExt cx="6959600" cy="50800"/>
          </a:xfrm>
        </p:grpSpPr>
        <p:sp>
          <p:nvSpPr>
            <p:cNvPr id="5" name="object 5"/>
            <p:cNvSpPr/>
            <p:nvPr/>
          </p:nvSpPr>
          <p:spPr>
            <a:xfrm>
              <a:off x="4814315" y="1378077"/>
              <a:ext cx="6959600" cy="0"/>
            </a:xfrm>
            <a:custGeom>
              <a:avLst/>
              <a:gdLst/>
              <a:ahLst/>
              <a:cxnLst/>
              <a:rect l="l" t="t" r="r" b="b"/>
              <a:pathLst>
                <a:path w="6959600">
                  <a:moveTo>
                    <a:pt x="0" y="0"/>
                  </a:moveTo>
                  <a:lnTo>
                    <a:pt x="6959600" y="0"/>
                  </a:lnTo>
                </a:path>
              </a:pathLst>
            </a:custGeom>
            <a:ln w="50800">
              <a:solidFill>
                <a:srgbClr val="64717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814315" y="1378077"/>
              <a:ext cx="5378450" cy="0"/>
            </a:xfrm>
            <a:custGeom>
              <a:avLst/>
              <a:gdLst/>
              <a:ahLst/>
              <a:cxnLst/>
              <a:rect l="l" t="t" r="r" b="b"/>
              <a:pathLst>
                <a:path w="5378450">
                  <a:moveTo>
                    <a:pt x="0" y="0"/>
                  </a:moveTo>
                  <a:lnTo>
                    <a:pt x="5378195" y="0"/>
                  </a:lnTo>
                </a:path>
              </a:pathLst>
            </a:custGeom>
            <a:ln w="50800">
              <a:solidFill>
                <a:srgbClr val="D0111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72400" y="5854700"/>
            <a:ext cx="4287519" cy="638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36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algun Gothic"/>
                <a:cs typeface="Malgun Gothic"/>
              </a:rPr>
              <a:t>작성자</a:t>
            </a:r>
            <a:r>
              <a:rPr sz="1800" b="1" spc="-15" dirty="0">
                <a:latin typeface="Malgun Gothic"/>
                <a:cs typeface="Malgun Gothic"/>
              </a:rPr>
              <a:t> </a:t>
            </a:r>
            <a:r>
              <a:rPr sz="1800" b="1" dirty="0">
                <a:latin typeface="Malgun Gothic"/>
                <a:cs typeface="Malgun Gothic"/>
              </a:rPr>
              <a:t>:</a:t>
            </a:r>
            <a:r>
              <a:rPr sz="1800" b="1" spc="-25" dirty="0">
                <a:latin typeface="Malgun Gothic"/>
                <a:cs typeface="Malgun Gothic"/>
              </a:rPr>
              <a:t> </a:t>
            </a:r>
            <a:r>
              <a:rPr lang="ko-KR" altLang="en-US" b="1" spc="-25" dirty="0" smtClean="0">
                <a:latin typeface="Malgun Gothic"/>
                <a:cs typeface="Malgun Gothic"/>
              </a:rPr>
              <a:t>김준수</a:t>
            </a:r>
            <a:endParaRPr sz="18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  <a:tabLst>
                <a:tab pos="1623060" algn="l"/>
                <a:tab pos="1866264" algn="l"/>
              </a:tabLst>
            </a:pPr>
            <a:r>
              <a:rPr sz="1100" spc="-5" dirty="0">
                <a:latin typeface="Trebuchet MS"/>
                <a:cs typeface="Trebuchet MS"/>
                <a:hlinkClick r:id="rId2"/>
              </a:rPr>
              <a:t>www.dsngsystem.co.kr</a:t>
            </a:r>
            <a:r>
              <a:rPr sz="1100" spc="-5" dirty="0">
                <a:latin typeface="Trebuchet MS"/>
                <a:cs typeface="Trebuchet MS"/>
              </a:rPr>
              <a:t>	</a:t>
            </a:r>
            <a:r>
              <a:rPr sz="1100" dirty="0" smtClean="0">
                <a:latin typeface="Trebuchet MS"/>
                <a:cs typeface="Trebuchet MS"/>
              </a:rPr>
              <a:t>|	</a:t>
            </a:r>
            <a:r>
              <a:rPr lang="en-US" sz="1100" dirty="0" smtClean="0">
                <a:latin typeface="Trebuchet MS"/>
                <a:cs typeface="Trebuchet MS"/>
              </a:rPr>
              <a:t>j.sookim@dsngsystem.co.kr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592" y="100672"/>
            <a:ext cx="933831" cy="5122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8413" y="1562404"/>
            <a:ext cx="4999609" cy="494543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14" name="object 3"/>
          <p:cNvSpPr txBox="1">
            <a:spLocks noGrp="1"/>
          </p:cNvSpPr>
          <p:nvPr>
            <p:ph type="title"/>
          </p:nvPr>
        </p:nvSpPr>
        <p:spPr>
          <a:xfrm>
            <a:off x="668413" y="713747"/>
            <a:ext cx="11105502" cy="518892"/>
          </a:xfrm>
        </p:spPr>
        <p:txBody>
          <a:bodyPr vert="horz" wrap="square" tIns="10954" rtlCol="0">
            <a:spAutoFit/>
          </a:bodyPr>
          <a:lstStyle/>
          <a:p>
            <a:pPr marL="3269456">
              <a:spcBef>
                <a:spcPts val="86"/>
              </a:spcBef>
              <a:defRPr/>
            </a:pPr>
            <a:r>
              <a:rPr lang="ko-KR" altLang="en-US" spc="-8" dirty="0" smtClean="0"/>
              <a:t>강화학습을 통해서 시스템 자원 제어하기 </a:t>
            </a:r>
            <a:endParaRPr spc="-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2447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ko-KR" altLang="en-US" b="1" dirty="0" smtClean="0"/>
              <a:t>목차</a:t>
            </a:r>
            <a:endParaRPr lang="en-US" altLang="ko-KR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53189" y="1219200"/>
            <a:ext cx="7891463" cy="3477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latinLnBrk="1" hangingPunct="1">
              <a:buAutoNum type="arabicPeriod"/>
              <a:defRPr/>
            </a:pPr>
            <a:r>
              <a:rPr lang="ko-KR" altLang="en-US" sz="2000" dirty="0" smtClean="0">
                <a:latin typeface="+mj-lt"/>
              </a:rPr>
              <a:t>프로젝트 배경 및 목적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ko-KR" altLang="en-US" sz="2000" dirty="0" smtClean="0">
                <a:latin typeface="+mj-lt"/>
              </a:rPr>
              <a:t>문제 정의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ko-KR" altLang="en-US" sz="2000" dirty="0" smtClean="0">
                <a:latin typeface="+mj-lt"/>
              </a:rPr>
              <a:t>시스템 구조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ko-KR" altLang="en-US" sz="2000" dirty="0" smtClean="0">
                <a:latin typeface="+mj-lt"/>
              </a:rPr>
              <a:t>강화학습 설계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en-US" altLang="ko-KR" sz="2000" dirty="0" smtClean="0">
                <a:latin typeface="+mj-lt"/>
              </a:rPr>
              <a:t>Rule-based </a:t>
            </a:r>
            <a:r>
              <a:rPr lang="ko-KR" altLang="en-US" sz="2000" dirty="0" smtClean="0">
                <a:latin typeface="+mj-lt"/>
              </a:rPr>
              <a:t>방식 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en-US" altLang="ko-KR" sz="2000" dirty="0" smtClean="0">
                <a:latin typeface="+mj-lt"/>
              </a:rPr>
              <a:t>DQN </a:t>
            </a:r>
            <a:r>
              <a:rPr lang="ko-KR" altLang="en-US" sz="2000" dirty="0" smtClean="0">
                <a:latin typeface="+mj-lt"/>
              </a:rPr>
              <a:t>학습 방식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ko-KR" altLang="en-US" sz="2000" dirty="0" smtClean="0">
                <a:latin typeface="+mj-lt"/>
              </a:rPr>
              <a:t>실험 환경 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ko-KR" altLang="en-US" sz="2000" dirty="0" smtClean="0">
                <a:latin typeface="+mj-lt"/>
              </a:rPr>
              <a:t>실험 결과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en-US" altLang="ko-KR" sz="2000" dirty="0" smtClean="0">
                <a:latin typeface="+mj-lt"/>
              </a:rPr>
              <a:t>Rule-based vs DQN </a:t>
            </a:r>
            <a:r>
              <a:rPr lang="ko-KR" altLang="en-US" sz="2000" dirty="0" smtClean="0">
                <a:latin typeface="+mj-lt"/>
              </a:rPr>
              <a:t>비교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ko-KR" altLang="en-US" sz="2000" dirty="0" smtClean="0">
                <a:latin typeface="+mj-lt"/>
              </a:rPr>
              <a:t>개선 방향</a:t>
            </a:r>
            <a:endParaRPr lang="en-US" altLang="ko-KR" sz="2000" dirty="0" smtClean="0">
              <a:latin typeface="+mj-lt"/>
            </a:endParaRPr>
          </a:p>
          <a:p>
            <a:pPr marL="457200" indent="-457200" eaLnBrk="1" latinLnBrk="1" hangingPunct="1">
              <a:buAutoNum type="arabicPeriod"/>
              <a:defRPr/>
            </a:pPr>
            <a:r>
              <a:rPr lang="ko-KR" altLang="en-US" sz="2000" dirty="0" smtClean="0">
                <a:latin typeface="+mj-lt"/>
              </a:rPr>
              <a:t>결론</a:t>
            </a:r>
            <a:endParaRPr lang="en-US" altLang="ko-KR" sz="2000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1. </a:t>
            </a:r>
            <a:r>
              <a:rPr lang="ko-KR" altLang="en-US" b="1" dirty="0" smtClean="0"/>
              <a:t>프로젝트 배경 및 목적</a:t>
            </a:r>
            <a:endParaRPr lang="en-US" altLang="ko-KR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53189" y="990600"/>
            <a:ext cx="1143401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ko-KR" sz="2000" dirty="0" smtClean="0">
                <a:latin typeface="+mn-ea"/>
              </a:rPr>
              <a:t>서버 </a:t>
            </a:r>
            <a:r>
              <a:rPr lang="ko-KR" altLang="ko-KR" sz="2000" dirty="0">
                <a:latin typeface="+mn-ea"/>
              </a:rPr>
              <a:t>운영 환경에서는</a:t>
            </a:r>
            <a:r>
              <a:rPr lang="en-US" altLang="ko-KR" sz="2000" dirty="0">
                <a:latin typeface="+mn-ea"/>
              </a:rPr>
              <a:t> CPU, Memory, Temperature </a:t>
            </a:r>
            <a:r>
              <a:rPr lang="ko-KR" altLang="ko-KR" sz="2000" dirty="0">
                <a:latin typeface="+mn-ea"/>
              </a:rPr>
              <a:t>등 자원 상태를 지속적으로 모니터링하고 적절한</a:t>
            </a:r>
            <a:r>
              <a:rPr lang="en-US" altLang="ko-KR" sz="2000" dirty="0">
                <a:latin typeface="+mn-ea"/>
              </a:rPr>
              <a:t> workload </a:t>
            </a:r>
            <a:r>
              <a:rPr lang="ko-KR" altLang="ko-KR" sz="2000" dirty="0">
                <a:latin typeface="+mn-ea"/>
              </a:rPr>
              <a:t>제어가 필요하다</a:t>
            </a:r>
            <a:r>
              <a:rPr lang="en-US" altLang="ko-KR" sz="2000" dirty="0">
                <a:latin typeface="+mn-ea"/>
              </a:rPr>
              <a:t>.</a:t>
            </a:r>
            <a:br>
              <a:rPr lang="en-US" altLang="ko-KR" sz="2000" dirty="0">
                <a:latin typeface="+mn-ea"/>
              </a:rPr>
            </a:br>
            <a:endParaRPr lang="en-US" altLang="ko-KR" sz="2000" dirty="0" smtClean="0">
              <a:latin typeface="+mn-ea"/>
            </a:endParaRPr>
          </a:p>
          <a:p>
            <a:pPr marL="457200" indent="-457200">
              <a:buAutoNum type="arabicPeriod"/>
            </a:pPr>
            <a:r>
              <a:rPr lang="ko-KR" altLang="ko-KR" sz="2000" dirty="0" smtClean="0">
                <a:latin typeface="+mn-ea"/>
              </a:rPr>
              <a:t>기존의</a:t>
            </a:r>
            <a:r>
              <a:rPr lang="en-US" altLang="ko-KR" sz="2000" dirty="0" smtClean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rule-based </a:t>
            </a:r>
            <a:r>
              <a:rPr lang="ko-KR" altLang="ko-KR" sz="2000" dirty="0">
                <a:latin typeface="+mn-ea"/>
              </a:rPr>
              <a:t>방식은 고정된 기준 값에 의존하여 다양한 상황에 유연하게 대응하기 어렵다</a:t>
            </a:r>
            <a:r>
              <a:rPr lang="en-US" altLang="ko-KR" sz="2000" dirty="0">
                <a:latin typeface="+mn-ea"/>
              </a:rPr>
              <a:t>.</a:t>
            </a:r>
            <a:br>
              <a:rPr lang="en-US" altLang="ko-KR" sz="2000" dirty="0">
                <a:latin typeface="+mn-ea"/>
              </a:rPr>
            </a:br>
            <a:endParaRPr lang="en-US" altLang="ko-KR" sz="2000" dirty="0" smtClean="0">
              <a:latin typeface="+mn-ea"/>
            </a:endParaRPr>
          </a:p>
          <a:p>
            <a:pPr marL="457200" indent="-457200">
              <a:buAutoNum type="arabicPeriod"/>
            </a:pPr>
            <a:r>
              <a:rPr lang="ko-KR" altLang="ko-KR" sz="2000" dirty="0" smtClean="0">
                <a:latin typeface="+mn-ea"/>
              </a:rPr>
              <a:t>따라서</a:t>
            </a:r>
            <a:r>
              <a:rPr lang="en-US" altLang="ko-KR" sz="2000" dirty="0" smtClean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DQN </a:t>
            </a:r>
            <a:r>
              <a:rPr lang="ko-KR" altLang="ko-KR" sz="2000" dirty="0">
                <a:latin typeface="+mn-ea"/>
              </a:rPr>
              <a:t>기반 강화학습을 적용하여 서버 상태에 따라 동적으로</a:t>
            </a:r>
            <a:r>
              <a:rPr lang="en-US" altLang="ko-KR" sz="2000" dirty="0">
                <a:latin typeface="+mn-ea"/>
              </a:rPr>
              <a:t> workload</a:t>
            </a:r>
            <a:r>
              <a:rPr lang="ko-KR" altLang="ko-KR" sz="2000" dirty="0">
                <a:latin typeface="+mn-ea"/>
              </a:rPr>
              <a:t>를 제어하고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ko-KR" sz="2000" dirty="0">
                <a:latin typeface="+mn-ea"/>
              </a:rPr>
              <a:t>자원 효율성과 안정성을 향상시키는 것을 목표로 한다</a:t>
            </a:r>
            <a:r>
              <a:rPr lang="en-US" altLang="ko-KR" sz="2000" dirty="0">
                <a:latin typeface="+mn-ea"/>
              </a:rPr>
              <a:t>.</a:t>
            </a:r>
            <a:endParaRPr lang="ko-KR" altLang="ko-KR" sz="20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189" y="5638800"/>
            <a:ext cx="11434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※ workload : </a:t>
            </a:r>
            <a:r>
              <a:rPr lang="ko-KR" altLang="en-US" sz="2000" dirty="0" smtClean="0">
                <a:latin typeface="+mn-ea"/>
              </a:rPr>
              <a:t>자원을 할당 하고 작업량 조절 작업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85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2. </a:t>
            </a:r>
            <a:r>
              <a:rPr lang="ko-KR" altLang="en-US" b="1" dirty="0" smtClean="0"/>
              <a:t>문제 정의</a:t>
            </a:r>
            <a:endParaRPr lang="en-US" altLang="ko-KR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53189" y="990600"/>
            <a:ext cx="114340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dirty="0"/>
              <a:t>서버의</a:t>
            </a:r>
            <a:r>
              <a:rPr lang="en-US" altLang="ko-KR" sz="2000" dirty="0"/>
              <a:t> CPU, Memory, Temperature </a:t>
            </a:r>
            <a:r>
              <a:rPr lang="ko-KR" altLang="ko-KR" sz="2000" dirty="0"/>
              <a:t>상태를 기반으로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workload</a:t>
            </a:r>
            <a:r>
              <a:rPr lang="ko-KR" altLang="ko-KR" sz="2000" dirty="0"/>
              <a:t>를</a:t>
            </a:r>
            <a:r>
              <a:rPr lang="en-US" altLang="ko-KR" sz="2000" dirty="0"/>
              <a:t> increase / decrease / hold </a:t>
            </a:r>
            <a:r>
              <a:rPr lang="ko-KR" altLang="ko-KR" sz="2000" dirty="0"/>
              <a:t>하여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ko-KR" altLang="ko-KR" sz="2000" dirty="0"/>
              <a:t>시스템 안정성과 자원 효율성을 동시에 유지하는 문제로 정의한다</a:t>
            </a:r>
            <a:r>
              <a:rPr lang="en-US" altLang="ko-KR" sz="2000" dirty="0" smtClean="0"/>
              <a:t>.</a:t>
            </a:r>
            <a:endParaRPr lang="ko-KR" altLang="ko-KR" sz="2000" dirty="0"/>
          </a:p>
        </p:txBody>
      </p:sp>
      <p:grpSp>
        <p:nvGrpSpPr>
          <p:cNvPr id="19" name="그룹 18"/>
          <p:cNvGrpSpPr/>
          <p:nvPr/>
        </p:nvGrpSpPr>
        <p:grpSpPr>
          <a:xfrm>
            <a:off x="453189" y="2051059"/>
            <a:ext cx="11579679" cy="4574601"/>
            <a:chOff x="453189" y="2095856"/>
            <a:chExt cx="11579679" cy="4574601"/>
          </a:xfrm>
        </p:grpSpPr>
        <p:sp>
          <p:nvSpPr>
            <p:cNvPr id="2" name="왼쪽/오른쪽 화살표 설명선 1"/>
            <p:cNvSpPr/>
            <p:nvPr/>
          </p:nvSpPr>
          <p:spPr>
            <a:xfrm>
              <a:off x="3733800" y="2819400"/>
              <a:ext cx="4191000" cy="3352800"/>
            </a:xfrm>
            <a:prstGeom prst="leftRight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Process</a:t>
              </a:r>
            </a:p>
            <a:p>
              <a:pPr algn="ctr"/>
              <a:r>
                <a:rPr lang="en-US" altLang="ko-KR" dirty="0" smtClean="0"/>
                <a:t>Hold</a:t>
              </a:r>
            </a:p>
            <a:p>
              <a:pPr algn="ctr"/>
              <a:r>
                <a:rPr lang="en-US" altLang="ko-KR" dirty="0" smtClean="0"/>
                <a:t>Increase</a:t>
              </a:r>
            </a:p>
            <a:p>
              <a:pPr algn="ctr"/>
              <a:r>
                <a:rPr lang="en-US" altLang="ko-KR" dirty="0" smtClean="0"/>
                <a:t>decrease</a:t>
              </a:r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774903" y="3467100"/>
              <a:ext cx="2438400" cy="2057400"/>
              <a:chOff x="762000" y="3429000"/>
              <a:chExt cx="2438400" cy="2057400"/>
            </a:xfrm>
          </p:grpSpPr>
          <p:sp>
            <p:nvSpPr>
              <p:cNvPr id="3" name="타원 2"/>
              <p:cNvSpPr/>
              <p:nvPr/>
            </p:nvSpPr>
            <p:spPr>
              <a:xfrm>
                <a:off x="762000" y="3429000"/>
                <a:ext cx="2438400" cy="20574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384503" y="3795980"/>
                <a:ext cx="129540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 smtClean="0"/>
                  <a:t>INPUT</a:t>
                </a:r>
              </a:p>
              <a:p>
                <a:r>
                  <a:rPr lang="en-US" altLang="ko-KR" sz="2000" dirty="0" smtClean="0"/>
                  <a:t>CPU</a:t>
                </a:r>
              </a:p>
              <a:p>
                <a:r>
                  <a:rPr lang="en-US" altLang="ko-KR" sz="2000" dirty="0" smtClean="0"/>
                  <a:t>MEMORY</a:t>
                </a:r>
              </a:p>
              <a:p>
                <a:r>
                  <a:rPr lang="ko-KR" altLang="en-US" sz="2000" dirty="0" smtClean="0"/>
                  <a:t>온도</a:t>
                </a:r>
                <a:endParaRPr lang="ko-KR" altLang="ko-KR" sz="2000" dirty="0"/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8382000" y="3467100"/>
              <a:ext cx="2438400" cy="2057400"/>
              <a:chOff x="762000" y="3429000"/>
              <a:chExt cx="2438400" cy="2057400"/>
            </a:xfrm>
          </p:grpSpPr>
          <p:sp>
            <p:nvSpPr>
              <p:cNvPr id="12" name="타원 11"/>
              <p:cNvSpPr/>
              <p:nvPr/>
            </p:nvSpPr>
            <p:spPr>
              <a:xfrm>
                <a:off x="762000" y="3429000"/>
                <a:ext cx="2438400" cy="20574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384502" y="3795980"/>
                <a:ext cx="151109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 smtClean="0"/>
                  <a:t>OUTPUT</a:t>
                </a:r>
              </a:p>
              <a:p>
                <a:r>
                  <a:rPr lang="ko-KR" altLang="en-US" sz="2000" dirty="0" smtClean="0"/>
                  <a:t>시스템의</a:t>
                </a:r>
                <a:endParaRPr lang="en-US" altLang="ko-KR" sz="2000" dirty="0" smtClean="0"/>
              </a:p>
              <a:p>
                <a:r>
                  <a:rPr lang="ko-KR" altLang="en-US" sz="2000" dirty="0" smtClean="0"/>
                  <a:t>안정성</a:t>
                </a:r>
                <a:endParaRPr lang="en-US" altLang="ko-KR" sz="2000" dirty="0" smtClean="0"/>
              </a:p>
              <a:p>
                <a:r>
                  <a:rPr lang="ko-KR" altLang="en-US" sz="2000" dirty="0" smtClean="0"/>
                  <a:t>자원효율성</a:t>
                </a:r>
                <a:endParaRPr lang="en-US" altLang="ko-KR" sz="2000" dirty="0" smtClean="0"/>
              </a:p>
            </p:txBody>
          </p:sp>
        </p:grpSp>
        <p:grpSp>
          <p:nvGrpSpPr>
            <p:cNvPr id="15" name="그룹 14"/>
            <p:cNvGrpSpPr/>
            <p:nvPr/>
          </p:nvGrpSpPr>
          <p:grpSpPr>
            <a:xfrm>
              <a:off x="3473551" y="2455970"/>
              <a:ext cx="4711497" cy="4079657"/>
              <a:chOff x="3473551" y="2455970"/>
              <a:chExt cx="4711497" cy="4079657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3473551" y="2455970"/>
                <a:ext cx="4711497" cy="40796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536848" y="2460620"/>
                <a:ext cx="7809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smtClean="0"/>
                  <a:t>model</a:t>
                </a:r>
                <a:endParaRPr lang="ko-KR" altLang="en-US" dirty="0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453189" y="2095856"/>
              <a:ext cx="11579679" cy="4574601"/>
              <a:chOff x="453189" y="2095856"/>
              <a:chExt cx="11579679" cy="4574601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453189" y="2095856"/>
                <a:ext cx="11579679" cy="45746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53189" y="2095856"/>
                <a:ext cx="833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smtClean="0"/>
                  <a:t>system</a:t>
                </a:r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354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3. </a:t>
            </a:r>
            <a:r>
              <a:rPr lang="ko-KR" altLang="en-US" b="1" dirty="0" smtClean="0"/>
              <a:t>시스템 구조</a:t>
            </a:r>
            <a:endParaRPr lang="en-US" altLang="ko-KR" b="1" dirty="0"/>
          </a:p>
        </p:txBody>
      </p:sp>
      <p:sp>
        <p:nvSpPr>
          <p:cNvPr id="3" name="타원 2"/>
          <p:cNvSpPr/>
          <p:nvPr/>
        </p:nvSpPr>
        <p:spPr>
          <a:xfrm>
            <a:off x="990600" y="3048000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Monitor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2580860" y="1290677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Env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4953000" y="739264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DQN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9144000" y="3048000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Control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769599" y="5410200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worker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429000" y="5410200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System</a:t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en-US" altLang="ko-KR" dirty="0" smtClean="0">
                <a:solidFill>
                  <a:schemeClr val="tx1"/>
                </a:solidFill>
              </a:rPr>
              <a:t>Resource</a:t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en-US" altLang="ko-KR" dirty="0" smtClean="0">
                <a:solidFill>
                  <a:schemeClr val="tx1"/>
                </a:solidFill>
              </a:rPr>
              <a:t>Change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6" name="구부러진 연결선 25"/>
          <p:cNvCxnSpPr>
            <a:stCxn id="3" idx="0"/>
            <a:endCxn id="8" idx="2"/>
          </p:cNvCxnSpPr>
          <p:nvPr/>
        </p:nvCxnSpPr>
        <p:spPr>
          <a:xfrm rot="5400000" flipH="1" flipV="1">
            <a:off x="1650019" y="2117159"/>
            <a:ext cx="1033423" cy="82826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구부러진 연결선 27"/>
          <p:cNvCxnSpPr>
            <a:stCxn id="8" idx="6"/>
            <a:endCxn id="9" idx="2"/>
          </p:cNvCxnSpPr>
          <p:nvPr/>
        </p:nvCxnSpPr>
        <p:spPr>
          <a:xfrm flipV="1">
            <a:off x="4104860" y="1463164"/>
            <a:ext cx="848140" cy="5514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구부러진 연결선 29"/>
          <p:cNvCxnSpPr>
            <a:stCxn id="9" idx="6"/>
            <a:endCxn id="61" idx="2"/>
          </p:cNvCxnSpPr>
          <p:nvPr/>
        </p:nvCxnSpPr>
        <p:spPr>
          <a:xfrm>
            <a:off x="6477000" y="1463164"/>
            <a:ext cx="762000" cy="2757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구부러진 연결선 33"/>
          <p:cNvCxnSpPr>
            <a:stCxn id="11" idx="4"/>
            <a:endCxn id="12" idx="6"/>
          </p:cNvCxnSpPr>
          <p:nvPr/>
        </p:nvCxnSpPr>
        <p:spPr>
          <a:xfrm rot="5400000">
            <a:off x="8280650" y="4508750"/>
            <a:ext cx="1638300" cy="16124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구부러진 연결선 35"/>
          <p:cNvCxnSpPr>
            <a:stCxn id="12" idx="2"/>
            <a:endCxn id="13" idx="6"/>
          </p:cNvCxnSpPr>
          <p:nvPr/>
        </p:nvCxnSpPr>
        <p:spPr>
          <a:xfrm rot="10800000">
            <a:off x="4953001" y="6134100"/>
            <a:ext cx="1816599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구부러진 연결선 40"/>
          <p:cNvCxnSpPr>
            <a:stCxn id="13" idx="2"/>
            <a:endCxn id="3" idx="4"/>
          </p:cNvCxnSpPr>
          <p:nvPr/>
        </p:nvCxnSpPr>
        <p:spPr>
          <a:xfrm rot="10800000">
            <a:off x="1752600" y="4495800"/>
            <a:ext cx="1676400" cy="16383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03607" y="856250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reward</a:t>
            </a:r>
          </a:p>
          <a:p>
            <a:r>
              <a:rPr lang="en-US" altLang="ko-KR" dirty="0" smtClean="0"/>
              <a:t>Done </a:t>
            </a:r>
            <a:r>
              <a:rPr lang="ko-KR" altLang="en-US" dirty="0" smtClean="0"/>
              <a:t>계산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1322721" y="1936004"/>
            <a:ext cx="1158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state</a:t>
            </a:r>
            <a:r>
              <a:rPr lang="ko-KR" altLang="en-US" dirty="0" smtClean="0"/>
              <a:t> 측정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046296" y="751965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State</a:t>
            </a:r>
            <a:r>
              <a:rPr lang="ko-KR" altLang="en-US" dirty="0" smtClean="0"/>
              <a:t>를 통해 </a:t>
            </a:r>
            <a:r>
              <a:rPr lang="en-US" altLang="ko-KR" dirty="0" smtClean="0"/>
              <a:t>action </a:t>
            </a:r>
            <a:r>
              <a:rPr lang="ko-KR" altLang="en-US" dirty="0" smtClean="0"/>
              <a:t>선택</a:t>
            </a:r>
            <a:endParaRPr lang="ko-KR" altLang="en-US" dirty="0"/>
          </a:p>
        </p:txBody>
      </p:sp>
      <p:sp>
        <p:nvSpPr>
          <p:cNvPr id="61" name="타원 60"/>
          <p:cNvSpPr/>
          <p:nvPr/>
        </p:nvSpPr>
        <p:spPr>
          <a:xfrm>
            <a:off x="7239000" y="1014970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Action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24" name="구부러진 연결선 1023"/>
          <p:cNvCxnSpPr>
            <a:stCxn id="61" idx="6"/>
            <a:endCxn id="11" idx="0"/>
          </p:cNvCxnSpPr>
          <p:nvPr/>
        </p:nvCxnSpPr>
        <p:spPr>
          <a:xfrm>
            <a:off x="8763000" y="1738870"/>
            <a:ext cx="1143000" cy="130913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872312" y="2090232"/>
            <a:ext cx="261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Action </a:t>
            </a:r>
            <a:r>
              <a:rPr lang="ko-KR" altLang="en-US" dirty="0" smtClean="0"/>
              <a:t>에 맞는 제어 설정</a:t>
            </a:r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8763000" y="5230393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제어 실행</a:t>
            </a:r>
            <a:endParaRPr lang="ko-KR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4898809" y="5500470"/>
            <a:ext cx="1959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제어 실행 결과 후</a:t>
            </a:r>
            <a:endParaRPr lang="en-US" altLang="ko-KR" dirty="0" smtClean="0"/>
          </a:p>
          <a:p>
            <a:r>
              <a:rPr lang="ko-KR" altLang="en-US" dirty="0" smtClean="0"/>
              <a:t>시스템 자원 확인</a:t>
            </a:r>
            <a:endParaRPr lang="ko-KR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1210998" y="5103956"/>
            <a:ext cx="2188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자원 변화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 측정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929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/>
              <a:t>4</a:t>
            </a:r>
            <a:r>
              <a:rPr lang="en-US" altLang="ko-KR" b="1" dirty="0" smtClean="0"/>
              <a:t>. </a:t>
            </a:r>
            <a:r>
              <a:rPr lang="ko-KR" altLang="en-US" b="1" dirty="0" smtClean="0"/>
              <a:t>강화학습 설계</a:t>
            </a:r>
            <a:endParaRPr lang="en-US" altLang="ko-KR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990600"/>
            <a:ext cx="11430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강화학습 이란</a:t>
            </a:r>
            <a:r>
              <a:rPr lang="en-US" altLang="ko-KR" sz="2000" dirty="0" smtClean="0">
                <a:latin typeface="+mn-ea"/>
              </a:rPr>
              <a:t>?</a:t>
            </a:r>
          </a:p>
          <a:p>
            <a:r>
              <a:rPr lang="ko-KR" altLang="en-US" sz="2000" dirty="0"/>
              <a:t>환경과 상호작용하며 시행착오를 통해 최대의 보상을 얻는 방향으로 스스로 최적의 행동을 학습하는 </a:t>
            </a:r>
            <a:r>
              <a:rPr lang="ko-KR" altLang="en-US" sz="2000" dirty="0" err="1"/>
              <a:t>머신러닝</a:t>
            </a:r>
            <a:r>
              <a:rPr lang="ko-KR" altLang="en-US" sz="2000" dirty="0"/>
              <a:t> 기법</a:t>
            </a:r>
            <a:r>
              <a:rPr lang="en-US" altLang="ko-KR" sz="2000" dirty="0" smtClean="0">
                <a:latin typeface="+mn-ea"/>
              </a:rPr>
              <a:t> </a:t>
            </a:r>
            <a:endParaRPr lang="ko-KR" altLang="ko-KR" sz="20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24281"/>
            <a:ext cx="7284731" cy="33244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71416" y="1752600"/>
            <a:ext cx="48205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환경 </a:t>
            </a:r>
            <a:r>
              <a:rPr lang="en-US" altLang="ko-KR" sz="2000" dirty="0" smtClean="0">
                <a:latin typeface="+mn-ea"/>
              </a:rPr>
              <a:t>: (state, reward, </a:t>
            </a:r>
            <a:r>
              <a:rPr lang="en-US" altLang="ko-KR" sz="2000" dirty="0" err="1" smtClean="0">
                <a:latin typeface="+mn-ea"/>
              </a:rPr>
              <a:t>next_state</a:t>
            </a:r>
            <a:r>
              <a:rPr lang="en-US" altLang="ko-KR" sz="2000" dirty="0" smtClean="0">
                <a:latin typeface="+mn-ea"/>
              </a:rPr>
              <a:t> </a:t>
            </a:r>
            <a:r>
              <a:rPr lang="ko-KR" altLang="en-US" sz="2000" dirty="0" smtClean="0">
                <a:latin typeface="+mn-ea"/>
              </a:rPr>
              <a:t>제공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r>
              <a:rPr lang="ko-KR" altLang="en-US" sz="2000" dirty="0" smtClean="0">
                <a:latin typeface="+mn-ea"/>
              </a:rPr>
              <a:t>에이전트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 smtClean="0">
                <a:latin typeface="+mn-ea"/>
              </a:rPr>
              <a:t>학습 대상 혹은 주체</a:t>
            </a:r>
            <a:endParaRPr lang="en-US" altLang="ko-KR" sz="2000" dirty="0" smtClean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Ex) </a:t>
            </a:r>
            <a:r>
              <a:rPr lang="ko-KR" altLang="en-US" sz="2000" dirty="0" smtClean="0">
                <a:latin typeface="+mn-ea"/>
              </a:rPr>
              <a:t>아빠와 아들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아빠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 smtClean="0">
                <a:latin typeface="+mn-ea"/>
              </a:rPr>
              <a:t>환경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아들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 smtClean="0">
                <a:latin typeface="+mn-ea"/>
              </a:rPr>
              <a:t>학습 대상</a:t>
            </a:r>
            <a:endParaRPr lang="en-US" altLang="ko-KR" sz="2000" dirty="0" smtClean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아빠가 피곤한 상태에서 아들이 </a:t>
            </a:r>
            <a:r>
              <a:rPr lang="en-US" altLang="ko-KR" sz="2000" dirty="0" smtClean="0">
                <a:latin typeface="+mn-ea"/>
              </a:rPr>
              <a:t>TV</a:t>
            </a:r>
            <a:r>
              <a:rPr lang="ko-KR" altLang="en-US" sz="2000" dirty="0" smtClean="0">
                <a:latin typeface="+mn-ea"/>
              </a:rPr>
              <a:t>를 틀었다</a:t>
            </a:r>
            <a:r>
              <a:rPr lang="en-US" altLang="ko-KR" sz="2000" dirty="0" smtClean="0">
                <a:latin typeface="+mn-ea"/>
              </a:rPr>
              <a:t>. </a:t>
            </a:r>
            <a:r>
              <a:rPr lang="ko-KR" altLang="en-US" sz="2000" dirty="0" smtClean="0">
                <a:latin typeface="+mn-ea"/>
              </a:rPr>
              <a:t>아빠가 혼을 냈다</a:t>
            </a:r>
            <a:r>
              <a:rPr lang="en-US" altLang="ko-KR" sz="2000" dirty="0" smtClean="0">
                <a:latin typeface="+mn-ea"/>
              </a:rPr>
              <a:t>.</a:t>
            </a:r>
          </a:p>
          <a:p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State : </a:t>
            </a:r>
            <a:r>
              <a:rPr lang="ko-KR" altLang="en-US" sz="2000" dirty="0" smtClean="0">
                <a:latin typeface="+mn-ea"/>
              </a:rPr>
              <a:t>아빠의 피곤한 표정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Action : TV</a:t>
            </a:r>
            <a:r>
              <a:rPr lang="ko-KR" altLang="en-US" sz="2000" dirty="0" smtClean="0">
                <a:latin typeface="+mn-ea"/>
              </a:rPr>
              <a:t>를 틀었다</a:t>
            </a:r>
            <a:r>
              <a:rPr lang="en-US" altLang="ko-KR" sz="2000" dirty="0" smtClean="0">
                <a:latin typeface="+mn-ea"/>
              </a:rPr>
              <a:t>.</a:t>
            </a:r>
          </a:p>
          <a:p>
            <a:r>
              <a:rPr lang="en-US" altLang="ko-KR" sz="2000" dirty="0" err="1" smtClean="0">
                <a:latin typeface="+mn-ea"/>
              </a:rPr>
              <a:t>Next_state</a:t>
            </a:r>
            <a:r>
              <a:rPr lang="en-US" altLang="ko-KR" sz="2000" dirty="0" smtClean="0">
                <a:latin typeface="+mn-ea"/>
              </a:rPr>
              <a:t> : </a:t>
            </a:r>
            <a:r>
              <a:rPr lang="ko-KR" altLang="en-US" sz="2000" dirty="0" smtClean="0">
                <a:latin typeface="+mn-ea"/>
              </a:rPr>
              <a:t>아빠의 화난 표정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Reward : </a:t>
            </a:r>
            <a:r>
              <a:rPr lang="ko-KR" altLang="en-US" sz="2000" dirty="0" smtClean="0">
                <a:latin typeface="+mn-ea"/>
              </a:rPr>
              <a:t>혼을 냈다</a:t>
            </a:r>
            <a:r>
              <a:rPr lang="en-US" altLang="ko-KR" sz="2000" dirty="0" smtClean="0">
                <a:latin typeface="+mn-ea"/>
              </a:rPr>
              <a:t>. (</a:t>
            </a:r>
            <a:r>
              <a:rPr lang="ko-KR" altLang="en-US" sz="2000" dirty="0" smtClean="0">
                <a:latin typeface="+mn-ea"/>
              </a:rPr>
              <a:t>감점 </a:t>
            </a:r>
            <a:r>
              <a:rPr lang="en-US" altLang="ko-KR" sz="2000" dirty="0" smtClean="0">
                <a:latin typeface="+mn-ea"/>
              </a:rPr>
              <a:t>1</a:t>
            </a:r>
            <a:r>
              <a:rPr lang="ko-KR" altLang="en-US" sz="2000" dirty="0" smtClean="0">
                <a:latin typeface="+mn-ea"/>
              </a:rPr>
              <a:t>점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r>
              <a:rPr lang="en-US" altLang="ko-KR" sz="2000" dirty="0" smtClean="0">
                <a:latin typeface="+mn-ea"/>
              </a:rPr>
              <a:t>Policy : </a:t>
            </a:r>
            <a:r>
              <a:rPr lang="ko-KR" altLang="en-US" sz="2000" dirty="0" smtClean="0">
                <a:latin typeface="+mn-ea"/>
              </a:rPr>
              <a:t>아빠한테 혼나지 않고 </a:t>
            </a:r>
            <a:r>
              <a:rPr lang="en-US" altLang="ko-KR" sz="2000" dirty="0" smtClean="0">
                <a:latin typeface="+mn-ea"/>
              </a:rPr>
              <a:t>TV</a:t>
            </a:r>
            <a:r>
              <a:rPr lang="ko-KR" altLang="en-US" sz="2000" dirty="0" smtClean="0">
                <a:latin typeface="+mn-ea"/>
              </a:rPr>
              <a:t>보는 법을 알아보자</a:t>
            </a:r>
            <a:r>
              <a:rPr lang="en-US" altLang="ko-KR" sz="2000" dirty="0" smtClean="0">
                <a:latin typeface="+mn-ea"/>
              </a:rPr>
              <a:t>.</a:t>
            </a:r>
            <a:r>
              <a:rPr lang="ko-KR" altLang="en-US" sz="2000" dirty="0" smtClean="0">
                <a:latin typeface="+mn-ea"/>
              </a:rPr>
              <a:t> </a:t>
            </a:r>
            <a:r>
              <a:rPr lang="en-US" altLang="ko-KR" sz="2000" dirty="0" smtClean="0">
                <a:latin typeface="+mn-ea"/>
              </a:rPr>
              <a:t>  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676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4. </a:t>
            </a:r>
            <a:r>
              <a:rPr lang="ko-KR" altLang="en-US" b="1" dirty="0" smtClean="0"/>
              <a:t>강화학습 설계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9060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State : monitor</a:t>
            </a:r>
            <a:r>
              <a:rPr lang="ko-KR" altLang="en-US" sz="2000" dirty="0" smtClean="0">
                <a:latin typeface="+mn-ea"/>
              </a:rPr>
              <a:t>에서 측정하는 값</a:t>
            </a:r>
            <a:r>
              <a:rPr lang="en-US" altLang="ko-KR" sz="2000" dirty="0" smtClean="0">
                <a:latin typeface="+mn-ea"/>
              </a:rPr>
              <a:t> </a:t>
            </a:r>
            <a:endParaRPr lang="ko-KR" altLang="ko-KR" sz="2000" dirty="0">
              <a:latin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7285"/>
              </p:ext>
            </p:extLst>
          </p:nvPr>
        </p:nvGraphicFramePr>
        <p:xfrm>
          <a:off x="566530" y="1524000"/>
          <a:ext cx="10591800" cy="4686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730"/>
                <a:gridCol w="2228470"/>
                <a:gridCol w="5257800"/>
                <a:gridCol w="2209800"/>
              </a:tblGrid>
              <a:tr h="685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번째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mem_available_ratio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available_mem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total_mem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이용 가능한 메모리 비율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r>
                        <a:rPr lang="ko-KR" altLang="en-US" dirty="0" smtClean="0"/>
                        <a:t>과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사이의 숫자</a:t>
                      </a:r>
                      <a:endParaRPr lang="ko-KR" altLang="en-US" dirty="0"/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 </a:t>
                      </a:r>
                      <a:r>
                        <a:rPr lang="ko-KR" altLang="en-US" dirty="0" smtClean="0"/>
                        <a:t>번째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cache_ratio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cache_mem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total_mem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Cache </a:t>
                      </a:r>
                      <a:r>
                        <a:rPr lang="ko-KR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메모리 사용량 비율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0</a:t>
                      </a:r>
                      <a:r>
                        <a:rPr lang="ko-KR" altLang="en-US" dirty="0" smtClean="0"/>
                        <a:t>과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사이의 숫자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 </a:t>
                      </a:r>
                      <a:r>
                        <a:rPr lang="ko-KR" altLang="en-US" dirty="0" smtClean="0"/>
                        <a:t>번째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cpu_user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  <a:r>
                        <a:rPr lang="ko-KR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사용자 프로그램에 사용하는 비율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단위 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0</a:t>
                      </a:r>
                      <a:r>
                        <a:rPr lang="ko-KR" altLang="en-US" dirty="0" smtClean="0"/>
                        <a:t>과 </a:t>
                      </a:r>
                      <a:r>
                        <a:rPr lang="en-US" altLang="ko-KR" dirty="0" smtClean="0"/>
                        <a:t>100</a:t>
                      </a:r>
                      <a:r>
                        <a:rPr lang="ko-KR" altLang="en-US" dirty="0" smtClean="0"/>
                        <a:t>사이의 숫자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r>
                        <a:rPr lang="ko-KR" altLang="en-US" dirty="0" smtClean="0"/>
                        <a:t>번째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cpu_idle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  <a:r>
                        <a:rPr lang="ko-KR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사용되지 않고 쉬고 있는 비율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단위 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%)</a:t>
                      </a:r>
                      <a:endParaRPr lang="ko-KR" altLang="ko-KR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0</a:t>
                      </a:r>
                      <a:r>
                        <a:rPr lang="ko-KR" altLang="en-US" dirty="0" smtClean="0"/>
                        <a:t>과 </a:t>
                      </a:r>
                      <a:r>
                        <a:rPr lang="en-US" altLang="ko-KR" dirty="0" smtClean="0"/>
                        <a:t>100</a:t>
                      </a:r>
                      <a:r>
                        <a:rPr lang="ko-KR" altLang="en-US" dirty="0" smtClean="0"/>
                        <a:t>사이의 숫자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 </a:t>
                      </a:r>
                      <a:r>
                        <a:rPr lang="ko-KR" altLang="en-US" dirty="0" smtClean="0"/>
                        <a:t>번째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mem_pressure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1 - </a:t>
                      </a:r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mem_available_ratio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메모리 압박 비율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0</a:t>
                      </a:r>
                      <a:r>
                        <a:rPr lang="ko-KR" altLang="en-US" dirty="0" smtClean="0"/>
                        <a:t>과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사이의 숫자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5 </a:t>
                      </a:r>
                      <a:r>
                        <a:rPr lang="ko-KR" altLang="en-US" dirty="0" smtClean="0"/>
                        <a:t>번째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package_temp_c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측정 안될 시 </a:t>
                      </a:r>
                      <a:r>
                        <a:rPr lang="en-US" altLang="ko-KR" dirty="0" smtClean="0"/>
                        <a:t>-1 </a:t>
                      </a:r>
                      <a:r>
                        <a:rPr lang="ko-KR" altLang="en-US" dirty="0" smtClean="0"/>
                        <a:t>출력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5542002" y="3244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cpu</a:t>
            </a:r>
            <a:r>
              <a:rPr lang="en-US" altLang="ko-KR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dirty="0">
                <a:cs typeface="Times New Roman" panose="02020603050405020304" pitchFamily="18" charset="0"/>
              </a:rPr>
              <a:t>온도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41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4. </a:t>
            </a:r>
            <a:r>
              <a:rPr lang="ko-KR" altLang="en-US" b="1" dirty="0" smtClean="0"/>
              <a:t>강화학습 설계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9060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Action : Control</a:t>
            </a:r>
            <a:r>
              <a:rPr lang="ko-KR" altLang="en-US" sz="2000" dirty="0" smtClean="0">
                <a:latin typeface="+mn-ea"/>
              </a:rPr>
              <a:t>에서 제어하는 기능</a:t>
            </a:r>
            <a:r>
              <a:rPr lang="en-US" altLang="ko-KR" sz="2000" dirty="0" smtClean="0">
                <a:latin typeface="+mn-ea"/>
              </a:rPr>
              <a:t> </a:t>
            </a:r>
            <a:endParaRPr lang="ko-KR" altLang="ko-KR" sz="2000" dirty="0"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93452"/>
              </p:ext>
            </p:extLst>
          </p:nvPr>
        </p:nvGraphicFramePr>
        <p:xfrm>
          <a:off x="609600" y="1524000"/>
          <a:ext cx="5257802" cy="129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4621"/>
                <a:gridCol w="1091381"/>
                <a:gridCol w="2971800"/>
              </a:tblGrid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r>
                        <a:rPr lang="ko-KR" altLang="en-US" dirty="0" smtClean="0"/>
                        <a:t>번째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hold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Pid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목록 </a:t>
                      </a:r>
                      <a:r>
                        <a:rPr lang="ko-KR" altLang="en-US" dirty="0" smtClean="0"/>
                        <a:t>작업량 유지</a:t>
                      </a:r>
                      <a:endParaRPr lang="ko-KR" altLang="en-US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번째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decrease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Pid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목록에 작업량 </a:t>
                      </a:r>
                      <a:r>
                        <a:rPr lang="en-US" altLang="ko-KR" baseline="0" dirty="0" smtClean="0"/>
                        <a:t>1</a:t>
                      </a:r>
                      <a:r>
                        <a:rPr lang="ko-KR" altLang="en-US" baseline="0" dirty="0" smtClean="0"/>
                        <a:t>개 감소</a:t>
                      </a:r>
                      <a:endParaRPr lang="ko-KR" alt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번째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increase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Pid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목록에 작업량 </a:t>
                      </a:r>
                      <a:r>
                        <a:rPr lang="en-US" altLang="ko-KR" baseline="0" dirty="0" smtClean="0"/>
                        <a:t>1</a:t>
                      </a:r>
                      <a:r>
                        <a:rPr lang="ko-KR" altLang="en-US" baseline="0" dirty="0" smtClean="0"/>
                        <a:t>개 증가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304800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※ PID (Process Identifier) : </a:t>
            </a:r>
            <a:r>
              <a:rPr lang="ko-KR" altLang="en-US" sz="2000" dirty="0" smtClean="0">
                <a:latin typeface="+mn-ea"/>
              </a:rPr>
              <a:t>프로세스를 고유하게 식별하는 숫자</a:t>
            </a:r>
            <a:r>
              <a:rPr lang="en-US" altLang="ko-KR" sz="2000" dirty="0" smtClean="0">
                <a:latin typeface="+mn-ea"/>
              </a:rPr>
              <a:t> </a:t>
            </a:r>
            <a:endParaRPr lang="ko-KR" altLang="ko-KR" sz="2000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506977"/>
            <a:ext cx="6869208" cy="213182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3047232"/>
            <a:ext cx="3886200" cy="269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4868" y="2446683"/>
            <a:ext cx="472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이 프로세스를 </a:t>
            </a:r>
            <a:r>
              <a:rPr lang="en-US" altLang="ko-KR" sz="2000" dirty="0" smtClean="0">
                <a:latin typeface="+mn-ea"/>
              </a:rPr>
              <a:t>1</a:t>
            </a:r>
            <a:r>
              <a:rPr lang="ko-KR" altLang="en-US" sz="2000" dirty="0" smtClean="0">
                <a:latin typeface="+mn-ea"/>
              </a:rPr>
              <a:t>개 증가하고 감소함</a:t>
            </a:r>
            <a:r>
              <a:rPr lang="en-US" altLang="ko-KR" sz="2000" dirty="0" smtClean="0">
                <a:latin typeface="+mn-ea"/>
              </a:rPr>
              <a:t>.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27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4. </a:t>
            </a:r>
            <a:r>
              <a:rPr lang="ko-KR" altLang="en-US" b="1" dirty="0" smtClean="0"/>
              <a:t>강화학습 설계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189" y="785387"/>
            <a:ext cx="1188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n-ea"/>
              </a:rPr>
              <a:t>R</a:t>
            </a:r>
            <a:r>
              <a:rPr lang="en-US" altLang="ko-KR" sz="2000" dirty="0" smtClean="0">
                <a:latin typeface="+mn-ea"/>
              </a:rPr>
              <a:t>eward : </a:t>
            </a:r>
            <a:r>
              <a:rPr lang="en-US" altLang="ko-KR" sz="2000" dirty="0">
                <a:latin typeface="+mn-ea"/>
              </a:rPr>
              <a:t>total reward = CPU idle </a:t>
            </a:r>
            <a:r>
              <a:rPr lang="en-US" altLang="ko-KR" sz="2000" dirty="0" smtClean="0">
                <a:latin typeface="+mn-ea"/>
              </a:rPr>
              <a:t>reward </a:t>
            </a:r>
            <a:r>
              <a:rPr lang="en-US" altLang="ko-KR" sz="2000" dirty="0">
                <a:latin typeface="+mn-ea"/>
              </a:rPr>
              <a:t>+ memory reward + temperature reward + action reward</a:t>
            </a:r>
            <a:endParaRPr lang="ko-KR" altLang="ko-KR" sz="2000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80" y="1185497"/>
            <a:ext cx="3276600" cy="44958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80" y="5533466"/>
            <a:ext cx="3711262" cy="125740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185497"/>
            <a:ext cx="3239504" cy="4874982"/>
          </a:xfrm>
          <a:prstGeom prst="rect">
            <a:avLst/>
          </a:prstGeom>
        </p:spPr>
      </p:pic>
      <p:pic>
        <p:nvPicPr>
          <p:cNvPr id="1026" name="Picture 2" descr="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646" y="1662759"/>
            <a:ext cx="5141531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891337" y="1185497"/>
            <a:ext cx="5141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Ex) action == 0(hold) </a:t>
            </a:r>
            <a:r>
              <a:rPr lang="ko-KR" altLang="en-US" sz="2000" dirty="0" smtClean="0">
                <a:latin typeface="+mn-ea"/>
              </a:rPr>
              <a:t>이면</a:t>
            </a:r>
            <a:endParaRPr lang="ko-KR" altLang="ko-KR" sz="2000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91337" y="3319956"/>
            <a:ext cx="5141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Reward = -0.5 + 1.0 +0 + 0 = 0.5</a:t>
            </a:r>
            <a:endParaRPr lang="ko-KR" altLang="ko-KR" sz="2000" dirty="0">
              <a:latin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14400" y="2006146"/>
            <a:ext cx="2743200" cy="584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89000" y="4414652"/>
            <a:ext cx="2743200" cy="584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775970" y="2209800"/>
            <a:ext cx="3062949" cy="451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907902" y="3853263"/>
            <a:ext cx="51415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CPU Idle Reward      = -0.5</a:t>
            </a:r>
          </a:p>
          <a:p>
            <a:r>
              <a:rPr lang="en-US" altLang="ko-KR" sz="2000" dirty="0" smtClean="0">
                <a:latin typeface="+mn-ea"/>
              </a:rPr>
              <a:t>Memory </a:t>
            </a:r>
            <a:r>
              <a:rPr lang="en-US" altLang="ko-KR" sz="2000" dirty="0">
                <a:latin typeface="+mn-ea"/>
              </a:rPr>
              <a:t>Reward </a:t>
            </a:r>
            <a:r>
              <a:rPr lang="en-US" altLang="ko-KR" sz="2000" dirty="0" smtClean="0">
                <a:latin typeface="+mn-ea"/>
              </a:rPr>
              <a:t>     = +1.0</a:t>
            </a:r>
          </a:p>
          <a:p>
            <a:r>
              <a:rPr lang="en-US" altLang="ko-KR" sz="2000" dirty="0" smtClean="0">
                <a:latin typeface="+mn-ea"/>
              </a:rPr>
              <a:t>Temperature </a:t>
            </a:r>
            <a:r>
              <a:rPr lang="en-US" altLang="ko-KR" sz="2000" dirty="0">
                <a:latin typeface="+mn-ea"/>
              </a:rPr>
              <a:t>Reward = </a:t>
            </a:r>
            <a:r>
              <a:rPr lang="en-US" altLang="ko-KR" sz="2000" dirty="0" smtClean="0">
                <a:latin typeface="+mn-ea"/>
              </a:rPr>
              <a:t> 0.0</a:t>
            </a:r>
          </a:p>
          <a:p>
            <a:r>
              <a:rPr lang="en-US" altLang="ko-KR" sz="2000" dirty="0" smtClean="0">
                <a:latin typeface="+mn-ea"/>
              </a:rPr>
              <a:t>Action </a:t>
            </a:r>
            <a:r>
              <a:rPr lang="en-US" altLang="ko-KR" sz="2000" dirty="0">
                <a:latin typeface="+mn-ea"/>
              </a:rPr>
              <a:t>Reward </a:t>
            </a:r>
            <a:r>
              <a:rPr lang="en-US" altLang="ko-KR" sz="2000" dirty="0" smtClean="0">
                <a:latin typeface="+mn-ea"/>
              </a:rPr>
              <a:t>        =  0.0</a:t>
            </a:r>
          </a:p>
          <a:p>
            <a:r>
              <a:rPr lang="en-US" altLang="ko-KR" sz="2000" dirty="0" smtClean="0">
                <a:latin typeface="+mn-ea"/>
              </a:rPr>
              <a:t>-----------------------------------------------</a:t>
            </a:r>
          </a:p>
          <a:p>
            <a:r>
              <a:rPr lang="en-US" altLang="ko-KR" sz="2000" dirty="0" smtClean="0">
                <a:latin typeface="+mn-ea"/>
              </a:rPr>
              <a:t>Total Reward           = +0.5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420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/>
              <a:t>5</a:t>
            </a:r>
            <a:r>
              <a:rPr lang="en-US" altLang="ko-KR" b="1" dirty="0" smtClean="0"/>
              <a:t>. Rule-based </a:t>
            </a:r>
            <a:r>
              <a:rPr lang="ko-KR" altLang="en-US" b="1" dirty="0" smtClean="0"/>
              <a:t>방식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400800" y="1126435"/>
            <a:ext cx="541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EX) </a:t>
            </a:r>
            <a:r>
              <a:rPr lang="ko-KR" altLang="en-US" sz="2000" dirty="0" smtClean="0">
                <a:latin typeface="+mn-ea"/>
              </a:rPr>
              <a:t>이런 상태라면</a:t>
            </a:r>
            <a:endParaRPr lang="ko-KR" altLang="ko-KR" sz="2000" dirty="0">
              <a:latin typeface="+mn-ea"/>
            </a:endParaRPr>
          </a:p>
        </p:txBody>
      </p:sp>
      <p:pic>
        <p:nvPicPr>
          <p:cNvPr id="6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603512"/>
            <a:ext cx="5644507" cy="27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85800" y="1143000"/>
            <a:ext cx="541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Rule-based : </a:t>
            </a:r>
            <a:r>
              <a:rPr lang="ko-KR" altLang="en-US" sz="2000" dirty="0" smtClean="0">
                <a:latin typeface="+mn-ea"/>
              </a:rPr>
              <a:t>사람이 직접 설계해서 만든 방식</a:t>
            </a:r>
            <a:endParaRPr lang="ko-KR" altLang="ko-KR" sz="2000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399" y="4495800"/>
            <a:ext cx="115881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err="1" smtClean="0">
                <a:latin typeface="+mn-ea"/>
              </a:rPr>
              <a:t>Cpu_idle</a:t>
            </a:r>
            <a:r>
              <a:rPr lang="en-US" altLang="ko-KR" sz="2000" dirty="0" smtClean="0">
                <a:latin typeface="+mn-ea"/>
              </a:rPr>
              <a:t> &gt; 90 </a:t>
            </a:r>
            <a:r>
              <a:rPr lang="ko-KR" altLang="en-US" sz="2000" dirty="0" smtClean="0">
                <a:latin typeface="+mn-ea"/>
              </a:rPr>
              <a:t>참    </a:t>
            </a:r>
            <a:r>
              <a:rPr lang="en-US" altLang="ko-KR" sz="2000" dirty="0" err="1" smtClean="0">
                <a:latin typeface="+mn-ea"/>
              </a:rPr>
              <a:t>mem_pressure</a:t>
            </a:r>
            <a:r>
              <a:rPr lang="en-US" altLang="ko-KR" sz="2000" dirty="0" smtClean="0">
                <a:latin typeface="+mn-ea"/>
              </a:rPr>
              <a:t> &lt; 0.705 </a:t>
            </a:r>
            <a:r>
              <a:rPr lang="ko-KR" altLang="en-US" sz="2000" dirty="0" smtClean="0">
                <a:latin typeface="+mn-ea"/>
              </a:rPr>
              <a:t>거짓 </a:t>
            </a:r>
            <a:r>
              <a:rPr lang="en-US" altLang="ko-KR" sz="2000" dirty="0" smtClean="0">
                <a:latin typeface="+mn-ea"/>
              </a:rPr>
              <a:t>&gt;&gt; </a:t>
            </a:r>
            <a:r>
              <a:rPr lang="ko-KR" altLang="en-US" sz="2000" dirty="0" smtClean="0">
                <a:latin typeface="+mn-ea"/>
              </a:rPr>
              <a:t>첫 번째 조건 </a:t>
            </a:r>
            <a:r>
              <a:rPr lang="ko-KR" altLang="en-US" sz="2000" dirty="0" err="1" smtClean="0">
                <a:latin typeface="+mn-ea"/>
              </a:rPr>
              <a:t>미성립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err="1" smtClean="0">
                <a:latin typeface="+mn-ea"/>
              </a:rPr>
              <a:t>Cpu_idle</a:t>
            </a:r>
            <a:r>
              <a:rPr lang="en-US" altLang="ko-KR" sz="2000" dirty="0" smtClean="0">
                <a:latin typeface="+mn-ea"/>
              </a:rPr>
              <a:t> &lt; 80 </a:t>
            </a:r>
            <a:r>
              <a:rPr lang="ko-KR" altLang="en-US" sz="2000" dirty="0" smtClean="0">
                <a:latin typeface="+mn-ea"/>
              </a:rPr>
              <a:t>거짓 </a:t>
            </a:r>
            <a:r>
              <a:rPr lang="en-US" altLang="ko-KR" sz="2000" dirty="0" err="1" smtClean="0">
                <a:latin typeface="+mn-ea"/>
              </a:rPr>
              <a:t>mem_pressure</a:t>
            </a:r>
            <a:r>
              <a:rPr lang="en-US" altLang="ko-KR" sz="2000" dirty="0" smtClean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smtClean="0">
                <a:latin typeface="+mn-ea"/>
              </a:rPr>
              <a:t>&gt;0.715 </a:t>
            </a:r>
            <a:r>
              <a:rPr lang="ko-KR" altLang="en-US" sz="2000" dirty="0">
                <a:latin typeface="+mn-ea"/>
              </a:rPr>
              <a:t>참</a:t>
            </a:r>
            <a:r>
              <a:rPr lang="ko-KR" altLang="en-US" sz="2000" dirty="0" smtClean="0">
                <a:latin typeface="+mn-ea"/>
              </a:rPr>
              <a:t>    </a:t>
            </a:r>
            <a:r>
              <a:rPr lang="en-US" altLang="ko-KR" sz="2000" dirty="0" smtClean="0">
                <a:latin typeface="+mn-ea"/>
              </a:rPr>
              <a:t>&gt;&gt; </a:t>
            </a:r>
            <a:r>
              <a:rPr lang="ko-KR" altLang="en-US" sz="2000" dirty="0" smtClean="0">
                <a:latin typeface="+mn-ea"/>
              </a:rPr>
              <a:t>두 번째 조건 성립</a:t>
            </a:r>
            <a:endParaRPr lang="en-US" altLang="ko-KR" sz="2000" dirty="0" smtClean="0">
              <a:latin typeface="+mn-ea"/>
            </a:endParaRPr>
          </a:p>
          <a:p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따라서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Action = 1 </a:t>
            </a:r>
            <a:r>
              <a:rPr lang="ko-KR" altLang="en-US" sz="2000" dirty="0" smtClean="0">
                <a:latin typeface="+mn-ea"/>
              </a:rPr>
              <a:t>실행</a:t>
            </a:r>
            <a:r>
              <a:rPr lang="en-US" altLang="ko-KR" sz="2000" dirty="0" smtClean="0">
                <a:latin typeface="+mn-ea"/>
              </a:rPr>
              <a:t>(decrease </a:t>
            </a:r>
            <a:r>
              <a:rPr lang="ko-KR" altLang="en-US" sz="2000" dirty="0" smtClean="0">
                <a:latin typeface="+mn-ea"/>
              </a:rPr>
              <a:t>실행</a:t>
            </a:r>
            <a:r>
              <a:rPr lang="en-US" altLang="ko-KR" sz="2000" dirty="0" smtClean="0">
                <a:latin typeface="+mn-ea"/>
              </a:rPr>
              <a:t>)</a:t>
            </a:r>
            <a:endParaRPr lang="ko-KR" altLang="ko-KR" sz="2000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5" y="1606824"/>
            <a:ext cx="5641225" cy="273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0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6. DQN </a:t>
            </a:r>
            <a:r>
              <a:rPr lang="ko-KR" altLang="en-US" b="1" dirty="0" smtClean="0"/>
              <a:t>학습방식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90600"/>
            <a:ext cx="11353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DQN(Deep-Q-Network) : </a:t>
            </a:r>
            <a:r>
              <a:rPr lang="ko-KR" altLang="en-US" sz="2000" dirty="0" smtClean="0">
                <a:latin typeface="+mn-ea"/>
              </a:rPr>
              <a:t>신경망 학습을 통해서 상황에 따른 최적의 액션 선택</a:t>
            </a:r>
            <a:r>
              <a:rPr lang="en-US" altLang="ko-KR" sz="2000" dirty="0" smtClean="0">
                <a:latin typeface="+mn-ea"/>
              </a:rPr>
              <a:t>  </a:t>
            </a:r>
            <a:endParaRPr lang="ko-KR" altLang="ko-KR" sz="20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30" y="1517212"/>
            <a:ext cx="3985079" cy="2786442"/>
          </a:xfrm>
          <a:prstGeom prst="rect">
            <a:avLst/>
          </a:prstGeom>
        </p:spPr>
      </p:pic>
      <p:sp>
        <p:nvSpPr>
          <p:cNvPr id="10" name="타원 9"/>
          <p:cNvSpPr/>
          <p:nvPr/>
        </p:nvSpPr>
        <p:spPr>
          <a:xfrm>
            <a:off x="84904" y="4638008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Input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State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1*6 </a:t>
            </a:r>
            <a:r>
              <a:rPr lang="ko-KR" altLang="en-US" dirty="0" smtClean="0">
                <a:solidFill>
                  <a:schemeClr val="tx1"/>
                </a:solidFill>
              </a:rPr>
              <a:t>행렬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10178379" y="4638008"/>
            <a:ext cx="1524000" cy="1447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Output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1*3 </a:t>
            </a:r>
            <a:r>
              <a:rPr lang="ko-KR" altLang="en-US" dirty="0" smtClean="0">
                <a:solidFill>
                  <a:schemeClr val="tx1"/>
                </a:solidFill>
              </a:rPr>
              <a:t>행렬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59669" y="50209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입력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9211602" y="50209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출력</a:t>
            </a:r>
            <a:endParaRPr lang="ko-KR" altLang="en-US" dirty="0"/>
          </a:p>
        </p:txBody>
      </p:sp>
      <p:grpSp>
        <p:nvGrpSpPr>
          <p:cNvPr id="37" name="그룹 36"/>
          <p:cNvGrpSpPr/>
          <p:nvPr/>
        </p:nvGrpSpPr>
        <p:grpSpPr>
          <a:xfrm>
            <a:off x="1608904" y="4430156"/>
            <a:ext cx="8569475" cy="1981200"/>
            <a:chOff x="1761304" y="4440348"/>
            <a:chExt cx="8569475" cy="1981200"/>
          </a:xfrm>
        </p:grpSpPr>
        <p:cxnSp>
          <p:nvCxnSpPr>
            <p:cNvPr id="20" name="직선 화살표 연결선 19"/>
            <p:cNvCxnSpPr>
              <a:stCxn id="10" idx="6"/>
              <a:endCxn id="11" idx="2"/>
            </p:cNvCxnSpPr>
            <p:nvPr/>
          </p:nvCxnSpPr>
          <p:spPr>
            <a:xfrm>
              <a:off x="1761304" y="5372100"/>
              <a:ext cx="11388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stCxn id="30" idx="6"/>
              <a:endCxn id="14" idx="2"/>
            </p:cNvCxnSpPr>
            <p:nvPr/>
          </p:nvCxnSpPr>
          <p:spPr>
            <a:xfrm>
              <a:off x="9043557" y="5372100"/>
              <a:ext cx="12872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그룹 32"/>
            <p:cNvGrpSpPr/>
            <p:nvPr/>
          </p:nvGrpSpPr>
          <p:grpSpPr>
            <a:xfrm>
              <a:off x="2819400" y="4440348"/>
              <a:ext cx="6453283" cy="1981200"/>
              <a:chOff x="2819400" y="4440348"/>
              <a:chExt cx="6453283" cy="1981200"/>
            </a:xfrm>
          </p:grpSpPr>
          <p:sp>
            <p:nvSpPr>
              <p:cNvPr id="30" name="타원 29"/>
              <p:cNvSpPr/>
              <p:nvPr/>
            </p:nvSpPr>
            <p:spPr>
              <a:xfrm>
                <a:off x="7519557" y="4648200"/>
                <a:ext cx="1524000" cy="14478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Output</a:t>
                </a:r>
              </a:p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Action</a:t>
                </a:r>
              </a:p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64*3 </a:t>
                </a:r>
              </a:p>
              <a:p>
                <a:pPr algn="ctr"/>
                <a:r>
                  <a:rPr lang="ko-KR" altLang="en-US" dirty="0" smtClean="0">
                    <a:solidFill>
                      <a:schemeClr val="tx1"/>
                    </a:solidFill>
                  </a:rPr>
                  <a:t>행렬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직사각형 3"/>
              <p:cNvSpPr/>
              <p:nvPr/>
            </p:nvSpPr>
            <p:spPr>
              <a:xfrm>
                <a:off x="2819400" y="4440348"/>
                <a:ext cx="6453283" cy="1981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타원 10"/>
              <p:cNvSpPr/>
              <p:nvPr/>
            </p:nvSpPr>
            <p:spPr>
              <a:xfrm>
                <a:off x="2900123" y="4648200"/>
                <a:ext cx="1524000" cy="14478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Hidden 1</a:t>
                </a:r>
              </a:p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 6*64</a:t>
                </a:r>
              </a:p>
              <a:p>
                <a:pPr algn="ctr"/>
                <a:r>
                  <a:rPr lang="ko-KR" altLang="en-US" dirty="0" smtClean="0">
                    <a:solidFill>
                      <a:schemeClr val="tx1"/>
                    </a:solidFill>
                  </a:rPr>
                  <a:t>행렬</a:t>
                </a:r>
                <a:endParaRPr lang="en-US" altLang="ko-KR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타원 14"/>
              <p:cNvSpPr/>
              <p:nvPr/>
            </p:nvSpPr>
            <p:spPr>
              <a:xfrm>
                <a:off x="5284041" y="4648200"/>
                <a:ext cx="1524000" cy="14478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Hidden 2</a:t>
                </a:r>
              </a:p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 64*64</a:t>
                </a:r>
              </a:p>
              <a:p>
                <a:pPr algn="ctr"/>
                <a:r>
                  <a:rPr lang="ko-KR" altLang="en-US" dirty="0" smtClean="0">
                    <a:solidFill>
                      <a:schemeClr val="tx1"/>
                    </a:solidFill>
                  </a:rPr>
                  <a:t>행렬</a:t>
                </a:r>
                <a:endParaRPr lang="en-US" altLang="ko-KR" dirty="0" smtClean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직선 화살표 연결선 7"/>
              <p:cNvCxnSpPr>
                <a:stCxn id="11" idx="6"/>
                <a:endCxn id="15" idx="2"/>
              </p:cNvCxnSpPr>
              <p:nvPr/>
            </p:nvCxnSpPr>
            <p:spPr>
              <a:xfrm>
                <a:off x="4424123" y="5372100"/>
                <a:ext cx="8599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/>
              <p:cNvCxnSpPr>
                <a:stCxn id="15" idx="6"/>
                <a:endCxn id="30" idx="2"/>
              </p:cNvCxnSpPr>
              <p:nvPr/>
            </p:nvCxnSpPr>
            <p:spPr>
              <a:xfrm>
                <a:off x="6808041" y="5372100"/>
                <a:ext cx="7115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2900123" y="4479245"/>
                <a:ext cx="7809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smtClean="0"/>
                  <a:t>model</a:t>
                </a:r>
                <a:endParaRPr lang="ko-KR" altLang="en-US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338535" y="5020917"/>
                <a:ext cx="1155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err="1" smtClean="0"/>
                  <a:t>ReLu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연산</a:t>
                </a:r>
                <a:endParaRPr lang="ko-KR" altLang="en-US" dirty="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632607" y="5020917"/>
                <a:ext cx="1155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err="1" smtClean="0"/>
                  <a:t>ReLu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연산</a:t>
                </a:r>
                <a:endParaRPr lang="ko-KR" altLang="en-US" dirty="0"/>
              </a:p>
            </p:txBody>
          </p:sp>
        </p:grp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314" y="3925853"/>
            <a:ext cx="7668486" cy="3234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35193" y="352693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Hold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97640" y="3526938"/>
            <a:ext cx="102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decrease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8366598" y="3532795"/>
            <a:ext cx="96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increase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559910" y="352631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action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687904" y="1830763"/>
            <a:ext cx="71992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err="1" smtClean="0">
                <a:latin typeface="+mn-ea"/>
              </a:rPr>
              <a:t>ReLu</a:t>
            </a:r>
            <a:r>
              <a:rPr lang="en-US" altLang="ko-KR" sz="2000" dirty="0" smtClean="0">
                <a:latin typeface="+mn-ea"/>
              </a:rPr>
              <a:t> </a:t>
            </a:r>
            <a:r>
              <a:rPr lang="ko-KR" altLang="en-US" sz="2000" dirty="0" smtClean="0">
                <a:latin typeface="+mn-ea"/>
              </a:rPr>
              <a:t>연산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 smtClean="0">
                <a:latin typeface="+mn-ea"/>
              </a:rPr>
              <a:t>음수는 </a:t>
            </a:r>
            <a:r>
              <a:rPr lang="en-US" altLang="ko-KR" sz="2000" dirty="0" smtClean="0">
                <a:latin typeface="+mn-ea"/>
              </a:rPr>
              <a:t>0 </a:t>
            </a:r>
            <a:r>
              <a:rPr lang="ko-KR" altLang="en-US" sz="2000" dirty="0" smtClean="0">
                <a:latin typeface="+mn-ea"/>
              </a:rPr>
              <a:t>출력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smtClean="0">
                <a:latin typeface="+mn-ea"/>
              </a:rPr>
              <a:t>               </a:t>
            </a:r>
            <a:r>
              <a:rPr lang="ko-KR" altLang="en-US" sz="2000" dirty="0" smtClean="0">
                <a:latin typeface="+mn-ea"/>
              </a:rPr>
              <a:t>양수는 양수 출력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540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6. DQN </a:t>
            </a:r>
            <a:r>
              <a:rPr lang="ko-KR" altLang="en-US" b="1" dirty="0" smtClean="0"/>
              <a:t>학습방식</a:t>
            </a:r>
            <a:endParaRPr lang="en-US" altLang="ko-KR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3189" y="983995"/>
            <a:ext cx="11353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ko-KR" sz="2000" dirty="0" smtClean="0"/>
              <a:t>현재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state </a:t>
            </a:r>
            <a:r>
              <a:rPr lang="ko-KR" altLang="ko-KR" sz="2000" dirty="0" smtClean="0"/>
              <a:t>관측</a:t>
            </a:r>
            <a:endParaRPr lang="en-US" altLang="ko-KR" sz="2000" dirty="0" smtClean="0"/>
          </a:p>
          <a:p>
            <a:pPr marL="457200" indent="-457200">
              <a:buAutoNum type="arabicPeriod"/>
            </a:pPr>
            <a:endParaRPr lang="ko-KR" altLang="ko-KR" sz="2000" dirty="0"/>
          </a:p>
          <a:p>
            <a:r>
              <a:rPr lang="en-US" altLang="ko-KR" sz="2000" dirty="0" smtClean="0"/>
              <a:t>2. e-greedy </a:t>
            </a:r>
            <a:r>
              <a:rPr lang="ko-KR" altLang="ko-KR" sz="2000" dirty="0"/>
              <a:t>방식으로 </a:t>
            </a:r>
            <a:r>
              <a:rPr lang="en-US" altLang="ko-KR" sz="2000" dirty="0"/>
              <a:t>action </a:t>
            </a:r>
            <a:r>
              <a:rPr lang="ko-KR" altLang="ko-KR" sz="2000" dirty="0"/>
              <a:t>선택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 smtClean="0"/>
              <a:t>     ※ 0</a:t>
            </a:r>
            <a:r>
              <a:rPr lang="ko-KR" altLang="ko-KR" sz="2000" dirty="0"/>
              <a:t>과</a:t>
            </a:r>
            <a:r>
              <a:rPr lang="en-US" altLang="ko-KR" sz="2000" dirty="0"/>
              <a:t> 1 </a:t>
            </a:r>
            <a:r>
              <a:rPr lang="ko-KR" altLang="ko-KR" sz="2000" dirty="0"/>
              <a:t>사이의</a:t>
            </a:r>
            <a:r>
              <a:rPr lang="en-US" altLang="ko-KR" sz="2000" dirty="0"/>
              <a:t> random </a:t>
            </a:r>
            <a:r>
              <a:rPr lang="ko-KR" altLang="ko-KR" sz="2000" dirty="0"/>
              <a:t>값이</a:t>
            </a:r>
            <a:r>
              <a:rPr lang="en-US" altLang="ko-KR" sz="2000" dirty="0"/>
              <a:t> epsilon</a:t>
            </a:r>
            <a:r>
              <a:rPr lang="ko-KR" altLang="ko-KR" sz="2000" dirty="0"/>
              <a:t>보다 작으면 랜덤</a:t>
            </a:r>
            <a:r>
              <a:rPr lang="en-US" altLang="ko-KR" sz="2000" dirty="0"/>
              <a:t> action</a:t>
            </a:r>
            <a:r>
              <a:rPr lang="ko-KR" altLang="ko-KR" sz="2000" dirty="0"/>
              <a:t>을 선택하고</a:t>
            </a:r>
            <a:r>
              <a:rPr lang="en-US" altLang="ko-KR" sz="2000" dirty="0" smtClean="0"/>
              <a:t>, 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 smtClean="0"/>
              <a:t>          </a:t>
            </a:r>
            <a:r>
              <a:rPr lang="ko-KR" altLang="ko-KR" sz="2000" dirty="0" smtClean="0"/>
              <a:t>그렇지 </a:t>
            </a:r>
            <a:r>
              <a:rPr lang="ko-KR" altLang="ko-KR" sz="2000" dirty="0"/>
              <a:t>않으면</a:t>
            </a:r>
            <a:r>
              <a:rPr lang="en-US" altLang="ko-KR" sz="2000" dirty="0"/>
              <a:t> Q-value</a:t>
            </a:r>
            <a:r>
              <a:rPr lang="ko-KR" altLang="ko-KR" sz="2000" dirty="0"/>
              <a:t>가 가장 높은</a:t>
            </a:r>
            <a:r>
              <a:rPr lang="en-US" altLang="ko-KR" sz="2000" dirty="0"/>
              <a:t> action</a:t>
            </a:r>
            <a:r>
              <a:rPr lang="ko-KR" altLang="ko-KR" sz="2000" dirty="0"/>
              <a:t>을 선택한다</a:t>
            </a:r>
            <a:r>
              <a:rPr lang="en-US" altLang="ko-KR" sz="2000" dirty="0" smtClean="0"/>
              <a:t>.</a:t>
            </a:r>
            <a:endParaRPr lang="ko-KR" altLang="ko-KR" sz="2000" dirty="0"/>
          </a:p>
          <a:p>
            <a:r>
              <a:rPr lang="en-US" altLang="ko-KR" sz="2000" dirty="0" smtClean="0"/>
              <a:t>3. action </a:t>
            </a:r>
            <a:r>
              <a:rPr lang="ko-KR" altLang="ko-KR" sz="2000" dirty="0"/>
              <a:t>실행 후 </a:t>
            </a:r>
            <a:r>
              <a:rPr lang="en-US" altLang="ko-KR" sz="2000" dirty="0"/>
              <a:t>reward, </a:t>
            </a:r>
            <a:r>
              <a:rPr lang="en-US" altLang="ko-KR" sz="2000" dirty="0" err="1"/>
              <a:t>next_state</a:t>
            </a:r>
            <a:r>
              <a:rPr lang="en-US" altLang="ko-KR" sz="2000" dirty="0"/>
              <a:t>, done </a:t>
            </a:r>
            <a:r>
              <a:rPr lang="ko-KR" altLang="ko-KR" sz="2000" dirty="0"/>
              <a:t>값 확인</a:t>
            </a:r>
            <a:r>
              <a:rPr lang="en-US" altLang="ko-KR" sz="2000" dirty="0"/>
              <a:t>. </a:t>
            </a:r>
            <a:endParaRPr lang="en-US" altLang="ko-KR" sz="2000" dirty="0" smtClean="0"/>
          </a:p>
          <a:p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 smtClean="0"/>
              <a:t>4. (state</a:t>
            </a:r>
            <a:r>
              <a:rPr lang="en-US" altLang="ko-KR" sz="2000" dirty="0"/>
              <a:t>, action, reward, </a:t>
            </a:r>
            <a:r>
              <a:rPr lang="en-US" altLang="ko-KR" sz="2000" dirty="0" err="1"/>
              <a:t>next_state</a:t>
            </a:r>
            <a:r>
              <a:rPr lang="en-US" altLang="ko-KR" sz="2000" dirty="0"/>
              <a:t>, done) </a:t>
            </a:r>
            <a:r>
              <a:rPr lang="ko-KR" altLang="ko-KR" sz="2000" dirty="0"/>
              <a:t>형태로</a:t>
            </a:r>
            <a:r>
              <a:rPr lang="en-US" altLang="ko-KR" sz="2000" dirty="0"/>
              <a:t> Replay Memory</a:t>
            </a:r>
            <a:r>
              <a:rPr lang="ko-KR" altLang="ko-KR" sz="2000" dirty="0"/>
              <a:t>에 저장한다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 smtClean="0"/>
              <a:t>5. memory</a:t>
            </a:r>
            <a:r>
              <a:rPr lang="ko-KR" altLang="ko-KR" sz="2000" dirty="0"/>
              <a:t>에서</a:t>
            </a:r>
            <a:r>
              <a:rPr lang="en-US" altLang="ko-KR" sz="2000" dirty="0"/>
              <a:t> </a:t>
            </a:r>
            <a:r>
              <a:rPr lang="en-US" altLang="ko-KR" sz="2000" dirty="0" err="1" smtClean="0"/>
              <a:t>batch_size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만큼 </a:t>
            </a:r>
            <a:r>
              <a:rPr lang="en-US" altLang="ko-KR" sz="2000" dirty="0" smtClean="0"/>
              <a:t>mini-batch</a:t>
            </a:r>
            <a:r>
              <a:rPr lang="ko-KR" altLang="ko-KR" sz="2000" dirty="0"/>
              <a:t>를 추출하여</a:t>
            </a:r>
            <a:r>
              <a:rPr lang="en-US" altLang="ko-KR" sz="2000" dirty="0"/>
              <a:t> target Q-value</a:t>
            </a:r>
            <a:r>
              <a:rPr lang="ko-KR" altLang="ko-KR" sz="2000" dirty="0"/>
              <a:t>를 </a:t>
            </a:r>
            <a:r>
              <a:rPr lang="ko-KR" altLang="ko-KR" sz="2000" dirty="0" smtClean="0"/>
              <a:t>계산</a:t>
            </a:r>
            <a:endParaRPr lang="en-US" altLang="ko-KR" sz="2000" dirty="0" smtClean="0"/>
          </a:p>
          <a:p>
            <a:r>
              <a:rPr lang="en-US" altLang="ko-KR" sz="2000" dirty="0" smtClean="0"/>
              <a:t>     ※</a:t>
            </a:r>
            <a:r>
              <a:rPr lang="ko-KR" altLang="en-US" sz="2000" dirty="0" smtClean="0"/>
              <a:t>  현재 </a:t>
            </a:r>
            <a:r>
              <a:rPr lang="en-US" altLang="ko-KR" sz="2000" dirty="0"/>
              <a:t>Q-value</a:t>
            </a:r>
            <a:r>
              <a:rPr lang="ko-KR" altLang="en-US" sz="2000" dirty="0"/>
              <a:t>를 </a:t>
            </a:r>
            <a:r>
              <a:rPr lang="en-US" altLang="ko-KR" sz="2000" dirty="0"/>
              <a:t>Target Q-value</a:t>
            </a:r>
            <a:r>
              <a:rPr lang="ko-KR" altLang="en-US" sz="2000" dirty="0"/>
              <a:t>에 가깝게 만드는 방향으로 학습한다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 smtClean="0"/>
              <a:t>6. </a:t>
            </a:r>
            <a:r>
              <a:rPr lang="ko-KR" altLang="ko-KR" sz="2000" dirty="0" smtClean="0"/>
              <a:t>현재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Q-value</a:t>
            </a:r>
            <a:r>
              <a:rPr lang="ko-KR" altLang="ko-KR" sz="2000" dirty="0"/>
              <a:t>와</a:t>
            </a:r>
            <a:r>
              <a:rPr lang="en-US" altLang="ko-KR" sz="2000" dirty="0"/>
              <a:t> target Q-value</a:t>
            </a:r>
            <a:r>
              <a:rPr lang="ko-KR" altLang="ko-KR" sz="2000" dirty="0"/>
              <a:t>의 차이를</a:t>
            </a:r>
            <a:r>
              <a:rPr lang="en-US" altLang="ko-KR" sz="2000" dirty="0"/>
              <a:t> loss</a:t>
            </a:r>
            <a:r>
              <a:rPr lang="ko-KR" altLang="ko-KR" sz="2000" dirty="0"/>
              <a:t>로 계산하고</a:t>
            </a:r>
            <a:r>
              <a:rPr lang="en-US" altLang="ko-KR" sz="2000" dirty="0"/>
              <a:t>,</a:t>
            </a:r>
            <a:br>
              <a:rPr lang="en-US" altLang="ko-KR" sz="2000" dirty="0"/>
            </a:br>
            <a:r>
              <a:rPr lang="en-US" altLang="ko-KR" sz="2000" dirty="0"/>
              <a:t>     </a:t>
            </a:r>
            <a:r>
              <a:rPr lang="en-US" altLang="ko-KR" sz="2000" dirty="0" err="1"/>
              <a:t>backpropagation</a:t>
            </a:r>
            <a:r>
              <a:rPr lang="ko-KR" altLang="ko-KR" sz="2000" dirty="0"/>
              <a:t>을 통해</a:t>
            </a:r>
            <a:r>
              <a:rPr lang="en-US" altLang="ko-KR" sz="2000" dirty="0"/>
              <a:t> neural network weight</a:t>
            </a:r>
            <a:r>
              <a:rPr lang="ko-KR" altLang="ko-KR" sz="2000" dirty="0"/>
              <a:t>를 업데이트한다</a:t>
            </a:r>
            <a:r>
              <a:rPr lang="en-US" altLang="ko-KR" sz="2000" dirty="0"/>
              <a:t>.</a:t>
            </a:r>
            <a:endParaRPr lang="ko-KR" altLang="ko-KR" sz="2000" dirty="0"/>
          </a:p>
          <a:p>
            <a:pPr marL="457200" indent="-457200">
              <a:buAutoNum type="arabicPeriod"/>
            </a:pPr>
            <a:endParaRPr lang="en-US" altLang="ko-KR" sz="2000" dirty="0" smtClean="0">
              <a:latin typeface="+mn-ea"/>
            </a:endParaRPr>
          </a:p>
        </p:txBody>
      </p:sp>
      <p:pic>
        <p:nvPicPr>
          <p:cNvPr id="3074" name="Picture 2" descr="bellman 방정식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189" y="4478890"/>
            <a:ext cx="3814011" cy="218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096" y="4995229"/>
            <a:ext cx="2537680" cy="87637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5941406"/>
            <a:ext cx="2514818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3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7. </a:t>
            </a:r>
            <a:r>
              <a:rPr lang="ko-KR" altLang="en-US" b="1" dirty="0" smtClean="0"/>
              <a:t>실험 환경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90600"/>
            <a:ext cx="1135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OS : Windows 11 Home 25H2</a:t>
            </a:r>
          </a:p>
          <a:p>
            <a:r>
              <a:rPr lang="en-US" altLang="ko-KR" sz="2000" dirty="0" smtClean="0">
                <a:latin typeface="+mn-ea"/>
              </a:rPr>
              <a:t>Python : 3.11.5</a:t>
            </a:r>
          </a:p>
          <a:p>
            <a:r>
              <a:rPr lang="en-US" altLang="ko-KR" sz="2000" dirty="0" smtClean="0">
                <a:latin typeface="+mn-ea"/>
              </a:rPr>
              <a:t>CPU : </a:t>
            </a:r>
            <a:r>
              <a:rPr lang="en-US" altLang="ko-KR" sz="2000" dirty="0">
                <a:latin typeface="+mn-ea"/>
              </a:rPr>
              <a:t>12</a:t>
            </a:r>
            <a:r>
              <a:rPr lang="en-US" altLang="ko-KR" sz="2000" baseline="30000" dirty="0">
                <a:latin typeface="+mn-ea"/>
              </a:rPr>
              <a:t>th</a:t>
            </a:r>
            <a:r>
              <a:rPr lang="en-US" altLang="ko-KR" sz="2000" dirty="0">
                <a:latin typeface="+mn-ea"/>
              </a:rPr>
              <a:t> Gen Intel(R) Core(TM) i5-1240P </a:t>
            </a:r>
            <a:endParaRPr lang="ko-KR" altLang="ko-KR" sz="2000" dirty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            socket:1 </a:t>
            </a:r>
            <a:endParaRPr lang="ko-KR" altLang="ko-KR" sz="2000" dirty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            core:12</a:t>
            </a:r>
          </a:p>
          <a:p>
            <a:r>
              <a:rPr lang="en-US" altLang="ko-KR" sz="2000" dirty="0" smtClean="0">
                <a:latin typeface="+mn-ea"/>
              </a:rPr>
              <a:t>Memory : </a:t>
            </a:r>
            <a:r>
              <a:rPr lang="en-US" altLang="ko-KR" sz="2000" dirty="0">
                <a:latin typeface="+mn-ea"/>
              </a:rPr>
              <a:t>Samsung M471A1K43EB1-CWE 8GB/3200MT * 2EA = </a:t>
            </a:r>
            <a:r>
              <a:rPr lang="en-US" altLang="ko-KR" sz="2000" dirty="0" smtClean="0">
                <a:latin typeface="+mn-ea"/>
              </a:rPr>
              <a:t>16GB  </a:t>
            </a:r>
            <a:endParaRPr lang="ko-KR" altLang="ko-KR" sz="20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189" y="3453890"/>
            <a:ext cx="1135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학습 환경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Episode = 300</a:t>
            </a:r>
          </a:p>
          <a:p>
            <a:r>
              <a:rPr lang="en-US" altLang="ko-KR" sz="2000" dirty="0" smtClean="0">
                <a:latin typeface="+mn-ea"/>
              </a:rPr>
              <a:t>Step = 30</a:t>
            </a:r>
          </a:p>
          <a:p>
            <a:r>
              <a:rPr lang="en-US" altLang="ko-KR" sz="2000" dirty="0" err="1" smtClean="0">
                <a:latin typeface="+mn-ea"/>
              </a:rPr>
              <a:t>Batch_Size</a:t>
            </a:r>
            <a:r>
              <a:rPr lang="en-US" altLang="ko-KR" sz="2000" dirty="0" smtClean="0">
                <a:latin typeface="+mn-ea"/>
              </a:rPr>
              <a:t> = </a:t>
            </a:r>
            <a:r>
              <a:rPr lang="en-US" altLang="ko-KR" sz="2000" dirty="0" smtClean="0">
                <a:latin typeface="+mn-ea"/>
              </a:rPr>
              <a:t>32</a:t>
            </a:r>
          </a:p>
          <a:p>
            <a:r>
              <a:rPr lang="en-US" altLang="ko-KR" sz="2000" dirty="0" err="1" smtClean="0">
                <a:latin typeface="+mn-ea"/>
              </a:rPr>
              <a:t>Max_Worker</a:t>
            </a:r>
            <a:r>
              <a:rPr lang="en-US" altLang="ko-KR" sz="2000" dirty="0" smtClean="0">
                <a:latin typeface="+mn-ea"/>
              </a:rPr>
              <a:t> = 2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학습시간 </a:t>
            </a:r>
            <a:r>
              <a:rPr lang="en-US" altLang="ko-KR" sz="2000" dirty="0" smtClean="0">
                <a:latin typeface="+mn-ea"/>
              </a:rPr>
              <a:t>: 7</a:t>
            </a:r>
            <a:r>
              <a:rPr lang="ko-KR" altLang="en-US" sz="2000" dirty="0" smtClean="0">
                <a:latin typeface="+mn-ea"/>
              </a:rPr>
              <a:t>시간 </a:t>
            </a:r>
            <a:r>
              <a:rPr lang="en-US" altLang="ko-KR" sz="2000" dirty="0" smtClean="0">
                <a:latin typeface="+mn-ea"/>
              </a:rPr>
              <a:t>30</a:t>
            </a:r>
            <a:r>
              <a:rPr lang="ko-KR" altLang="en-US" sz="2000" dirty="0" smtClean="0">
                <a:latin typeface="+mn-ea"/>
              </a:rPr>
              <a:t>분 </a:t>
            </a:r>
            <a:r>
              <a:rPr lang="en-US" altLang="ko-KR" sz="2000" dirty="0" smtClean="0">
                <a:latin typeface="+mn-ea"/>
              </a:rPr>
              <a:t>~ 8</a:t>
            </a:r>
            <a:r>
              <a:rPr lang="ko-KR" altLang="en-US" sz="2000" dirty="0" smtClean="0">
                <a:latin typeface="+mn-ea"/>
              </a:rPr>
              <a:t>시간 정도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198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/>
              <a:t>8</a:t>
            </a:r>
            <a:r>
              <a:rPr lang="en-US" altLang="ko-KR" b="1" dirty="0" smtClean="0"/>
              <a:t>. </a:t>
            </a:r>
            <a:r>
              <a:rPr lang="ko-KR" altLang="en-US" b="1" dirty="0" smtClean="0"/>
              <a:t>실험 결과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90600"/>
            <a:ext cx="6858000" cy="31346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3189" y="4724400"/>
            <a:ext cx="11353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DQN</a:t>
            </a:r>
            <a:r>
              <a:rPr lang="ko-KR" altLang="en-US" sz="2000" dirty="0"/>
              <a:t>은 </a:t>
            </a:r>
            <a:r>
              <a:rPr lang="en-US" altLang="ko-KR" sz="2000" dirty="0"/>
              <a:t>Rule-based </a:t>
            </a:r>
            <a:r>
              <a:rPr lang="ko-KR" altLang="en-US" sz="2000" dirty="0"/>
              <a:t>방식 대비 약 </a:t>
            </a:r>
            <a:r>
              <a:rPr lang="en-US" altLang="ko-KR" sz="2000" dirty="0"/>
              <a:t>20% </a:t>
            </a:r>
            <a:r>
              <a:rPr lang="ko-KR" altLang="en-US" sz="2000" dirty="0"/>
              <a:t>높은 </a:t>
            </a:r>
            <a:r>
              <a:rPr lang="en-US" altLang="ko-KR" sz="2000" dirty="0"/>
              <a:t>Total Reward</a:t>
            </a:r>
            <a:r>
              <a:rPr lang="ko-KR" altLang="en-US" sz="2000" dirty="0"/>
              <a:t>를 기록하였으며</a:t>
            </a:r>
            <a:r>
              <a:rPr lang="en-US" altLang="ko-KR" sz="2000" dirty="0"/>
              <a:t>,</a:t>
            </a:r>
            <a:br>
              <a:rPr lang="en-US" altLang="ko-KR" sz="2000" dirty="0"/>
            </a:br>
            <a:r>
              <a:rPr lang="ko-KR" altLang="en-US" sz="2000" dirty="0"/>
              <a:t>환경 변화에 보다 유연하게 대응하는 모습을 보였다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>
              <a:latin typeface="+mn-ea"/>
            </a:endParaRPr>
          </a:p>
          <a:p>
            <a:r>
              <a:rPr lang="en-US" altLang="ko-KR" sz="2000" dirty="0" smtClean="0"/>
              <a:t>Rule-based </a:t>
            </a:r>
            <a:r>
              <a:rPr lang="en-US" altLang="ko-KR" sz="2000" dirty="0"/>
              <a:t>: </a:t>
            </a:r>
            <a:r>
              <a:rPr lang="ko-KR" altLang="en-US" sz="2000" dirty="0"/>
              <a:t>약 </a:t>
            </a:r>
            <a:r>
              <a:rPr lang="en-US" altLang="ko-KR" sz="2000" dirty="0" smtClean="0"/>
              <a:t>45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DQN : </a:t>
            </a:r>
            <a:r>
              <a:rPr lang="ko-KR" altLang="en-US" sz="2000" dirty="0"/>
              <a:t>약 </a:t>
            </a:r>
            <a:r>
              <a:rPr lang="en-US" altLang="ko-KR" sz="2000" dirty="0"/>
              <a:t>54</a:t>
            </a:r>
            <a:endParaRPr lang="en-US" altLang="ko-KR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078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/>
              <a:t>9</a:t>
            </a:r>
            <a:r>
              <a:rPr lang="en-US" altLang="ko-KR" b="1" dirty="0" smtClean="0"/>
              <a:t>. Rule-based vs DQN </a:t>
            </a:r>
            <a:r>
              <a:rPr lang="ko-KR" altLang="en-US" b="1" dirty="0" smtClean="0"/>
              <a:t>비교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90600"/>
            <a:ext cx="281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1. </a:t>
            </a:r>
            <a:r>
              <a:rPr lang="en-US" altLang="ko-KR" sz="2000" dirty="0"/>
              <a:t>action </a:t>
            </a:r>
            <a:r>
              <a:rPr lang="ko-KR" altLang="ko-KR" sz="2000" dirty="0"/>
              <a:t>분포도 비교</a:t>
            </a:r>
            <a:r>
              <a:rPr lang="en-US" altLang="ko-KR" sz="2000" dirty="0" smtClean="0">
                <a:latin typeface="+mn-ea"/>
              </a:rPr>
              <a:t> </a:t>
            </a:r>
            <a:endParaRPr lang="ko-KR" altLang="ko-KR" sz="2000" dirty="0">
              <a:latin typeface="+mn-ea"/>
            </a:endParaRPr>
          </a:p>
        </p:txBody>
      </p:sp>
      <p:pic>
        <p:nvPicPr>
          <p:cNvPr id="3074" name="Picture 2" descr="rule_vs_dqn_action_coun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88" y="1563756"/>
            <a:ext cx="5490411" cy="4141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 descr="rule_vs_dqn_cumulative_rewar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1698788"/>
            <a:ext cx="6150338" cy="3711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2498" y="1031107"/>
            <a:ext cx="281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n-ea"/>
              </a:rPr>
              <a:t>2</a:t>
            </a:r>
            <a:r>
              <a:rPr lang="en-US" altLang="ko-KR" sz="2000" dirty="0" smtClean="0">
                <a:latin typeface="+mn-ea"/>
              </a:rPr>
              <a:t>. </a:t>
            </a:r>
            <a:r>
              <a:rPr lang="ko-KR" altLang="ko-KR" sz="2000" dirty="0"/>
              <a:t>누적 보상 비교</a:t>
            </a:r>
            <a:r>
              <a:rPr lang="en-US" altLang="ko-KR" sz="2000" dirty="0" smtClean="0">
                <a:latin typeface="+mn-ea"/>
              </a:rPr>
              <a:t> 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21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/>
              <a:t>9</a:t>
            </a:r>
            <a:r>
              <a:rPr lang="en-US" altLang="ko-KR" b="1" dirty="0" smtClean="0"/>
              <a:t>. Rule-based vs DQN </a:t>
            </a:r>
            <a:r>
              <a:rPr lang="ko-KR" altLang="en-US" b="1" dirty="0" smtClean="0"/>
              <a:t>비교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906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n-ea"/>
              </a:rPr>
              <a:t>3</a:t>
            </a:r>
            <a:r>
              <a:rPr lang="en-US" altLang="ko-KR" sz="2000" dirty="0" smtClean="0">
                <a:latin typeface="+mn-ea"/>
              </a:rPr>
              <a:t>. </a:t>
            </a:r>
            <a:r>
              <a:rPr lang="ko-KR" altLang="ko-KR" sz="2000" dirty="0"/>
              <a:t>각 </a:t>
            </a:r>
            <a:r>
              <a:rPr lang="en-US" altLang="ko-KR" sz="2000" dirty="0"/>
              <a:t>step</a:t>
            </a:r>
            <a:r>
              <a:rPr lang="ko-KR" altLang="ko-KR" sz="2000" dirty="0"/>
              <a:t>별 보상 비교</a:t>
            </a:r>
            <a:endParaRPr lang="ko-KR" altLang="ko-KR" sz="2000" dirty="0">
              <a:latin typeface="+mn-ea"/>
            </a:endParaRPr>
          </a:p>
        </p:txBody>
      </p:sp>
      <p:pic>
        <p:nvPicPr>
          <p:cNvPr id="3076" name="Picture 4" descr="rule_vs_dqn_step_rewar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988894"/>
            <a:ext cx="5795867" cy="349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 descr="rule_vs_dqn_total_rewar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995520"/>
            <a:ext cx="5410200" cy="4663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781800" y="9906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4. </a:t>
            </a:r>
            <a:r>
              <a:rPr lang="ko-KR" altLang="ko-KR" sz="2000" dirty="0"/>
              <a:t>보상 총점 비교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603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10. </a:t>
            </a:r>
            <a:r>
              <a:rPr lang="ko-KR" altLang="en-US" b="1" dirty="0" smtClean="0"/>
              <a:t>개선 방향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90600"/>
            <a:ext cx="11887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ko-KR" sz="2000" dirty="0" smtClean="0"/>
              <a:t>현재 </a:t>
            </a:r>
            <a:r>
              <a:rPr lang="ko-KR" altLang="ko-KR" sz="2000" dirty="0"/>
              <a:t>실험은</a:t>
            </a:r>
            <a:r>
              <a:rPr lang="en-US" altLang="ko-KR" sz="2000" dirty="0"/>
              <a:t> CPU workload </a:t>
            </a:r>
            <a:r>
              <a:rPr lang="ko-KR" altLang="ko-KR" sz="2000" dirty="0"/>
              <a:t>중심으로 진행되었으며</a:t>
            </a:r>
            <a:r>
              <a:rPr lang="en-US" altLang="ko-KR" sz="2000" dirty="0"/>
              <a:t>, </a:t>
            </a:r>
            <a:r>
              <a:rPr lang="ko-KR" altLang="ko-KR" sz="2000" dirty="0"/>
              <a:t>향후</a:t>
            </a:r>
            <a:r>
              <a:rPr lang="en-US" altLang="ko-KR" sz="2000" dirty="0"/>
              <a:t> Memory </a:t>
            </a:r>
            <a:r>
              <a:rPr lang="ko-KR" altLang="ko-KR" sz="2000" dirty="0"/>
              <a:t>및</a:t>
            </a:r>
            <a:r>
              <a:rPr lang="en-US" altLang="ko-KR" sz="2000" dirty="0"/>
              <a:t> GPU workload</a:t>
            </a:r>
            <a:r>
              <a:rPr lang="ko-KR" altLang="ko-KR" sz="2000" dirty="0"/>
              <a:t>까지 확장할 필요가 있다</a:t>
            </a:r>
            <a:r>
              <a:rPr lang="en-US" altLang="ko-KR" sz="2000" dirty="0" smtClean="0"/>
              <a:t>.</a:t>
            </a:r>
          </a:p>
          <a:p>
            <a:pPr marL="457200" indent="-457200">
              <a:buAutoNum type="arabicPeriod"/>
            </a:pPr>
            <a:endParaRPr lang="en-US" altLang="ko-KR" sz="2000" dirty="0" smtClean="0"/>
          </a:p>
          <a:p>
            <a:pPr marL="457200" indent="-457200">
              <a:buAutoNum type="arabicPeriod"/>
            </a:pPr>
            <a:r>
              <a:rPr lang="ko-KR" altLang="ko-KR" sz="2000" dirty="0" smtClean="0"/>
              <a:t>추가 </a:t>
            </a:r>
            <a:r>
              <a:rPr lang="en-US" altLang="ko-KR" sz="2000" dirty="0"/>
              <a:t>dual CPU </a:t>
            </a:r>
            <a:r>
              <a:rPr lang="ko-KR" altLang="ko-KR" sz="2000" dirty="0"/>
              <a:t>및</a:t>
            </a:r>
            <a:r>
              <a:rPr lang="en-US" altLang="ko-KR" sz="2000" dirty="0"/>
              <a:t> multi-core </a:t>
            </a:r>
            <a:r>
              <a:rPr lang="ko-KR" altLang="ko-KR" sz="2000" dirty="0"/>
              <a:t>서버 환경 대응을 위해</a:t>
            </a:r>
            <a:r>
              <a:rPr lang="en-US" altLang="ko-KR" sz="2000" dirty="0"/>
              <a:t> CPU core </a:t>
            </a:r>
            <a:r>
              <a:rPr lang="ko-KR" altLang="ko-KR" sz="2000" dirty="0"/>
              <a:t>기반 정규화 및</a:t>
            </a:r>
            <a:r>
              <a:rPr lang="en-US" altLang="ko-KR" sz="2000" dirty="0"/>
              <a:t> workload scaling </a:t>
            </a:r>
            <a:r>
              <a:rPr lang="ko-KR" altLang="ko-KR" sz="2000" dirty="0"/>
              <a:t>기법을 적용할 예정이다</a:t>
            </a:r>
            <a:r>
              <a:rPr lang="en-US" altLang="ko-KR" sz="2000" dirty="0" smtClean="0"/>
              <a:t>.</a:t>
            </a:r>
            <a:r>
              <a:rPr lang="en-US" altLang="ko-KR" sz="2000" dirty="0" smtClean="0">
                <a:latin typeface="+mn-ea"/>
              </a:rPr>
              <a:t> </a:t>
            </a:r>
            <a:endParaRPr lang="ko-KR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984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453189" y="313189"/>
            <a:ext cx="449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1" dirty="0" smtClean="0"/>
              <a:t>11. </a:t>
            </a:r>
            <a:r>
              <a:rPr lang="ko-KR" altLang="en-US" b="1" dirty="0" smtClean="0"/>
              <a:t>결론</a:t>
            </a:r>
            <a:endParaRPr lang="en-US" altLang="ko-K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90600"/>
            <a:ext cx="11887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latinLnBrk="0">
              <a:buAutoNum type="arabicPeriod"/>
            </a:pPr>
            <a:r>
              <a:rPr lang="ko-KR" altLang="ko-KR" sz="2000" dirty="0" smtClean="0"/>
              <a:t>본 </a:t>
            </a:r>
            <a:r>
              <a:rPr lang="ko-KR" altLang="ko-KR" sz="2000" dirty="0"/>
              <a:t>프로젝트에서는</a:t>
            </a:r>
            <a:r>
              <a:rPr lang="en-US" altLang="ko-KR" sz="2000" dirty="0"/>
              <a:t> DQN </a:t>
            </a:r>
            <a:r>
              <a:rPr lang="ko-KR" altLang="ko-KR" sz="2000" dirty="0"/>
              <a:t>기반 강화학습을 이용하여 시스템 자원 상태에 따라</a:t>
            </a:r>
            <a:r>
              <a:rPr lang="en-US" altLang="ko-KR" sz="2000" dirty="0"/>
              <a:t> workload</a:t>
            </a:r>
            <a:r>
              <a:rPr lang="ko-KR" altLang="ko-KR" sz="2000" dirty="0"/>
              <a:t>를 동적으로 제어하였다</a:t>
            </a:r>
            <a:r>
              <a:rPr lang="en-US" altLang="ko-KR" sz="2000" dirty="0" smtClean="0"/>
              <a:t>.</a:t>
            </a:r>
          </a:p>
          <a:p>
            <a:pPr marL="457200" indent="-457200" latinLnBrk="0">
              <a:buAutoNum type="arabicPeriod"/>
            </a:pPr>
            <a:endParaRPr lang="en-US" altLang="ko-KR" sz="2000" dirty="0" smtClean="0"/>
          </a:p>
          <a:p>
            <a:pPr marL="457200" indent="-457200" latinLnBrk="0">
              <a:buAutoNum type="arabicPeriod"/>
            </a:pPr>
            <a:r>
              <a:rPr lang="ko-KR" altLang="ko-KR" sz="2000" dirty="0" smtClean="0"/>
              <a:t>실험 </a:t>
            </a:r>
            <a:r>
              <a:rPr lang="ko-KR" altLang="ko-KR" sz="2000" dirty="0"/>
              <a:t>결과</a:t>
            </a:r>
            <a:r>
              <a:rPr lang="en-US" altLang="ko-KR" sz="2000" dirty="0"/>
              <a:t>, DQN</a:t>
            </a:r>
            <a:r>
              <a:rPr lang="ko-KR" altLang="ko-KR" sz="2000" dirty="0"/>
              <a:t>은</a:t>
            </a:r>
            <a:r>
              <a:rPr lang="en-US" altLang="ko-KR" sz="2000" dirty="0"/>
              <a:t> Rule-based </a:t>
            </a:r>
            <a:r>
              <a:rPr lang="ko-KR" altLang="ko-KR" sz="2000" dirty="0"/>
              <a:t>방식 대비 더 높은</a:t>
            </a:r>
            <a:r>
              <a:rPr lang="en-US" altLang="ko-KR" sz="2000" dirty="0"/>
              <a:t> total reward</a:t>
            </a:r>
            <a:r>
              <a:rPr lang="ko-KR" altLang="ko-KR" sz="2000" dirty="0"/>
              <a:t>를 보였으며</a:t>
            </a:r>
            <a:r>
              <a:rPr lang="en-US" altLang="ko-KR" sz="2000" dirty="0"/>
              <a:t>, </a:t>
            </a:r>
            <a:r>
              <a:rPr lang="ko-KR" altLang="ko-KR" sz="2000" dirty="0"/>
              <a:t>초기</a:t>
            </a:r>
            <a:r>
              <a:rPr lang="en-US" altLang="ko-KR" sz="2000" dirty="0"/>
              <a:t> workload </a:t>
            </a:r>
            <a:r>
              <a:rPr lang="ko-KR" altLang="ko-KR" sz="2000" dirty="0"/>
              <a:t>증가 이후 안정적인</a:t>
            </a:r>
            <a:r>
              <a:rPr lang="en-US" altLang="ko-KR" sz="2000" dirty="0"/>
              <a:t> hold </a:t>
            </a:r>
            <a:r>
              <a:rPr lang="ko-KR" altLang="ko-KR" sz="2000" dirty="0"/>
              <a:t>정책을 유지하는 모습을 확인할 수 있었다</a:t>
            </a:r>
            <a:r>
              <a:rPr lang="en-US" altLang="ko-KR" sz="2000" dirty="0" smtClean="0"/>
              <a:t>.</a:t>
            </a:r>
          </a:p>
          <a:p>
            <a:pPr marL="457200" indent="-457200" latinLnBrk="0">
              <a:buAutoNum type="arabicPeriod"/>
            </a:pPr>
            <a:endParaRPr lang="en-US" altLang="ko-KR" sz="2000" dirty="0" smtClean="0"/>
          </a:p>
          <a:p>
            <a:pPr marL="457200" indent="-457200" latinLnBrk="0">
              <a:buAutoNum type="arabicPeriod"/>
            </a:pPr>
            <a:r>
              <a:rPr lang="ko-KR" altLang="en-US" sz="2000" dirty="0" smtClean="0"/>
              <a:t>이를 </a:t>
            </a:r>
            <a:r>
              <a:rPr lang="ko-KR" altLang="en-US" sz="2000" dirty="0"/>
              <a:t>통해 강화학습 기반 시스템 자원 제어의 실현 가능성을 확인하였으며</a:t>
            </a:r>
            <a:r>
              <a:rPr lang="en-US" altLang="ko-KR" sz="2000" dirty="0" smtClean="0"/>
              <a:t>, </a:t>
            </a:r>
          </a:p>
          <a:p>
            <a:pPr latinLnBrk="0"/>
            <a:r>
              <a:rPr lang="en-US" altLang="ko-KR" sz="2000" dirty="0"/>
              <a:t> </a:t>
            </a:r>
            <a:r>
              <a:rPr lang="en-US" altLang="ko-KR" sz="2000" dirty="0" smtClean="0"/>
              <a:t>       </a:t>
            </a:r>
            <a:r>
              <a:rPr lang="ko-KR" altLang="en-US" sz="2000" dirty="0" smtClean="0"/>
              <a:t>향후 </a:t>
            </a:r>
            <a:r>
              <a:rPr lang="en-US" altLang="ko-KR" sz="2000" dirty="0"/>
              <a:t>multi-core </a:t>
            </a:r>
            <a:r>
              <a:rPr lang="ko-KR" altLang="en-US" sz="2000" dirty="0"/>
              <a:t>및 </a:t>
            </a:r>
            <a:r>
              <a:rPr lang="en-US" altLang="ko-KR" sz="2000" dirty="0"/>
              <a:t>GPU </a:t>
            </a:r>
            <a:r>
              <a:rPr lang="ko-KR" altLang="en-US" sz="2000" dirty="0"/>
              <a:t>환경으로 확장 가능성이 있다고 판단된다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763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pc="-15" dirty="0"/>
              <a:t>Copyright</a:t>
            </a:r>
            <a:r>
              <a:rPr spc="90" dirty="0"/>
              <a:t> </a:t>
            </a:r>
            <a:r>
              <a:rPr spc="-5" dirty="0"/>
              <a:t>ⓒ</a:t>
            </a:r>
            <a:r>
              <a:rPr spc="15" dirty="0"/>
              <a:t> </a:t>
            </a:r>
            <a:r>
              <a:rPr spc="-5" dirty="0"/>
              <a:t>DS&amp;G</a:t>
            </a:r>
            <a:r>
              <a:rPr spc="-15" dirty="0"/>
              <a:t> </a:t>
            </a:r>
            <a:r>
              <a:rPr spc="-10" dirty="0"/>
              <a:t>CO,.</a:t>
            </a:r>
            <a:r>
              <a:rPr spc="30" dirty="0"/>
              <a:t> </a:t>
            </a:r>
            <a:r>
              <a:rPr spc="-5" dirty="0"/>
              <a:t>Ltd</a:t>
            </a:r>
            <a:r>
              <a:rPr spc="250" dirty="0"/>
              <a:t> </a:t>
            </a:r>
            <a:r>
              <a:rPr spc="-5" dirty="0"/>
              <a:t>All</a:t>
            </a:r>
            <a:r>
              <a:rPr spc="35" dirty="0"/>
              <a:t> </a:t>
            </a:r>
            <a:r>
              <a:rPr spc="-10" dirty="0"/>
              <a:t>right</a:t>
            </a:r>
            <a:r>
              <a:rPr spc="20" dirty="0"/>
              <a:t> </a:t>
            </a:r>
            <a:r>
              <a:rPr spc="-5" dirty="0"/>
              <a:t>reserved.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438400"/>
            <a:ext cx="11353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4000" dirty="0" smtClean="0">
                <a:latin typeface="+mj-lt"/>
              </a:rPr>
              <a:t>수정 사항 있으면 연락 주십시오</a:t>
            </a:r>
            <a:r>
              <a:rPr lang="en-US" altLang="ko-KR" sz="4000" dirty="0" smtClean="0">
                <a:latin typeface="+mj-lt"/>
              </a:rPr>
              <a:t>.</a:t>
            </a:r>
          </a:p>
          <a:p>
            <a:pPr algn="ctr" eaLnBrk="1" latinLnBrk="1" hangingPunct="1">
              <a:defRPr/>
            </a:pPr>
            <a:r>
              <a:rPr lang="ko-KR" altLang="en-US" sz="4000" dirty="0" smtClean="0">
                <a:latin typeface="+mj-lt"/>
              </a:rPr>
              <a:t>감사합니다</a:t>
            </a:r>
            <a:r>
              <a:rPr lang="en-US" altLang="ko-KR" sz="4000" dirty="0" smtClean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760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2350</TotalTime>
  <Words>989</Words>
  <Application>Microsoft Office PowerPoint</Application>
  <PresentationFormat>와이드스크린</PresentationFormat>
  <Paragraphs>220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굴림</vt:lpstr>
      <vt:lpstr>Malgun Gothic</vt:lpstr>
      <vt:lpstr>Malgun Gothic</vt:lpstr>
      <vt:lpstr>Calibri</vt:lpstr>
      <vt:lpstr>Times New Roman</vt:lpstr>
      <vt:lpstr>Trebuchet MS</vt:lpstr>
      <vt:lpstr>Office Theme</vt:lpstr>
      <vt:lpstr>강화학습을 통해서 시스템 자원 제어하기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JIWON SEO</dc:creator>
  <cp:lastModifiedBy>User</cp:lastModifiedBy>
  <cp:revision>137</cp:revision>
  <dcterms:created xsi:type="dcterms:W3CDTF">2021-07-05T05:30:33Z</dcterms:created>
  <dcterms:modified xsi:type="dcterms:W3CDTF">2026-06-04T05:57:03Z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2021-07-05T00:00:00Z</vt:filetime>
  </property>
</Properties>
</file>